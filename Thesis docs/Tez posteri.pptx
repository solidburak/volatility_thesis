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60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25199975" cy="32399288"/>
  <p:notesSz cx="32030988" cy="42052875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205">
          <p15:clr>
            <a:srgbClr val="A4A3A4"/>
          </p15:clr>
        </p15:guide>
        <p15:guide id="2" pos="427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ED1"/>
    <a:srgbClr val="00CC99"/>
    <a:srgbClr val="525484"/>
    <a:srgbClr val="FFDFD0"/>
    <a:srgbClr val="796963"/>
    <a:srgbClr val="FAD8CF"/>
    <a:srgbClr val="FFFFFF"/>
    <a:srgbClr val="FFC4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9454" autoAdjust="0"/>
    <p:restoredTop sz="96238" autoAdjust="0"/>
  </p:normalViewPr>
  <p:slideViewPr>
    <p:cSldViewPr>
      <p:cViewPr>
        <p:scale>
          <a:sx n="50" d="100"/>
          <a:sy n="50" d="100"/>
        </p:scale>
        <p:origin x="1608" y="-5286"/>
      </p:cViewPr>
      <p:guideLst>
        <p:guide orient="horz" pos="10205"/>
        <p:guide pos="427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026">
            <a:extLst>
              <a:ext uri="{FF2B5EF4-FFF2-40B4-BE49-F238E27FC236}">
                <a16:creationId xmlns:a16="http://schemas.microsoft.com/office/drawing/2014/main" id="{AC09D133-F4B4-B3E8-273D-D61B74FF194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13877925" cy="2103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419279" tIns="209642" rIns="419279" bIns="209642" numCol="1" anchor="t" anchorCtr="0" compatLnSpc="1">
            <a:prstTxWarp prst="textNoShape">
              <a:avLst/>
            </a:prstTxWarp>
          </a:bodyPr>
          <a:lstStyle>
            <a:lvl1pPr defTabSz="4195763" eaLnBrk="1" hangingPunct="1">
              <a:defRPr sz="5600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1027">
            <a:extLst>
              <a:ext uri="{FF2B5EF4-FFF2-40B4-BE49-F238E27FC236}">
                <a16:creationId xmlns:a16="http://schemas.microsoft.com/office/drawing/2014/main" id="{41CB2F2D-79C4-7CF0-4DE8-E36A48920DF9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18153063" y="0"/>
            <a:ext cx="13877925" cy="2103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419279" tIns="209642" rIns="419279" bIns="209642" numCol="1" anchor="t" anchorCtr="0" compatLnSpc="1">
            <a:prstTxWarp prst="textNoShape">
              <a:avLst/>
            </a:prstTxWarp>
          </a:bodyPr>
          <a:lstStyle>
            <a:lvl1pPr algn="r" defTabSz="4195763" eaLnBrk="1" hangingPunct="1">
              <a:defRPr sz="5600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8" name="Rectangle 1028">
            <a:extLst>
              <a:ext uri="{FF2B5EF4-FFF2-40B4-BE49-F238E27FC236}">
                <a16:creationId xmlns:a16="http://schemas.microsoft.com/office/drawing/2014/main" id="{61E560CA-FF91-A76E-256D-352B70637FB0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39949438"/>
            <a:ext cx="13877925" cy="2103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419279" tIns="209642" rIns="419279" bIns="209642" numCol="1" anchor="b" anchorCtr="0" compatLnSpc="1">
            <a:prstTxWarp prst="textNoShape">
              <a:avLst/>
            </a:prstTxWarp>
          </a:bodyPr>
          <a:lstStyle>
            <a:lvl1pPr defTabSz="4195763" eaLnBrk="1" hangingPunct="1">
              <a:defRPr sz="5600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9" name="Rectangle 1029">
            <a:extLst>
              <a:ext uri="{FF2B5EF4-FFF2-40B4-BE49-F238E27FC236}">
                <a16:creationId xmlns:a16="http://schemas.microsoft.com/office/drawing/2014/main" id="{57DB1FA2-CB7B-6439-45CC-EC4E55426E58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18153063" y="39949438"/>
            <a:ext cx="13877925" cy="2103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419279" tIns="209642" rIns="419279" bIns="209642" numCol="1" anchor="b" anchorCtr="0" compatLnSpc="1">
            <a:prstTxWarp prst="textNoShape">
              <a:avLst/>
            </a:prstTxWarp>
          </a:bodyPr>
          <a:lstStyle>
            <a:lvl1pPr algn="r" defTabSz="4195763" eaLnBrk="1" hangingPunct="1">
              <a:defRPr sz="5600"/>
            </a:lvl1pPr>
          </a:lstStyle>
          <a:p>
            <a:pPr>
              <a:defRPr/>
            </a:pPr>
            <a:fld id="{FB810634-63E7-467F-8F19-B48D6DD340E1}" type="slidenum">
              <a:rPr lang="en-US" altLang="tr-TR"/>
              <a:pPr>
                <a:defRPr/>
              </a:pPr>
              <a:t>‹#›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1F59CFF8-1FB3-3AF4-1639-FEC03E95B82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13879513" cy="2103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8132B202-FF1B-D189-C097-C5ED15052738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18143538" y="0"/>
            <a:ext cx="13879512" cy="2103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07604E4C-E474-4BB5-B7F4-08738AA79397}" type="datetimeFigureOut">
              <a:rPr lang="en-US" altLang="tr-TR"/>
              <a:pPr>
                <a:defRPr/>
              </a:pPr>
              <a:t>6/23/2026</a:t>
            </a:fld>
            <a:endParaRPr lang="en-US" altLang="tr-TR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867BE376-A4EF-6CC3-C18D-3EDB1C573A4D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882188" y="3154363"/>
            <a:ext cx="12266612" cy="157702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9" name="Rectangle 5">
            <a:extLst>
              <a:ext uri="{FF2B5EF4-FFF2-40B4-BE49-F238E27FC236}">
                <a16:creationId xmlns:a16="http://schemas.microsoft.com/office/drawing/2014/main" id="{E4201F81-7A5D-C122-7B5C-008C82DADAAA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203575" y="19975513"/>
            <a:ext cx="25623838" cy="1892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1510" name="Rectangle 6">
            <a:extLst>
              <a:ext uri="{FF2B5EF4-FFF2-40B4-BE49-F238E27FC236}">
                <a16:creationId xmlns:a16="http://schemas.microsoft.com/office/drawing/2014/main" id="{4982F12D-C14E-5815-2AA8-4BC5328D7B0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39943088"/>
            <a:ext cx="13879513" cy="210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511" name="Rectangle 7">
            <a:extLst>
              <a:ext uri="{FF2B5EF4-FFF2-40B4-BE49-F238E27FC236}">
                <a16:creationId xmlns:a16="http://schemas.microsoft.com/office/drawing/2014/main" id="{B563CE36-88FC-B8ED-6DEB-123BEE36CF6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18143538" y="39943088"/>
            <a:ext cx="13879512" cy="210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DA88A35F-8624-4B4B-BB07-EB0DD7664764}" type="slidenum">
              <a:rPr lang="en-US" altLang="tr-TR"/>
              <a:pPr>
                <a:defRPr/>
              </a:pPr>
              <a:t>‹#›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85703500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800" kern="1200">
        <a:solidFill>
          <a:schemeClr val="tx1"/>
        </a:solidFill>
        <a:latin typeface="Arial" charset="0"/>
        <a:ea typeface="MS PGothic" panose="020B0600070205080204" pitchFamily="34" charset="-128"/>
        <a:cs typeface="ＭＳ Ｐゴシック" charset="0"/>
      </a:defRPr>
    </a:lvl1pPr>
    <a:lvl2pPr marL="341313" algn="l" rtl="0" eaLnBrk="0" fontAlgn="base" hangingPunct="0">
      <a:spcBef>
        <a:spcPct val="30000"/>
      </a:spcBef>
      <a:spcAft>
        <a:spcPct val="0"/>
      </a:spcAft>
      <a:defRPr sz="8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2pPr>
    <a:lvl3pPr marL="684213" algn="l" rtl="0" eaLnBrk="0" fontAlgn="base" hangingPunct="0">
      <a:spcBef>
        <a:spcPct val="30000"/>
      </a:spcBef>
      <a:spcAft>
        <a:spcPct val="0"/>
      </a:spcAft>
      <a:defRPr sz="8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3pPr>
    <a:lvl4pPr marL="1027113" algn="l" rtl="0" eaLnBrk="0" fontAlgn="base" hangingPunct="0">
      <a:spcBef>
        <a:spcPct val="30000"/>
      </a:spcBef>
      <a:spcAft>
        <a:spcPct val="0"/>
      </a:spcAft>
      <a:defRPr sz="8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4pPr>
    <a:lvl5pPr marL="1368425" algn="l" rtl="0" eaLnBrk="0" fontAlgn="base" hangingPunct="0">
      <a:spcBef>
        <a:spcPct val="30000"/>
      </a:spcBef>
      <a:spcAft>
        <a:spcPct val="0"/>
      </a:spcAft>
      <a:defRPr sz="8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5pPr>
    <a:lvl6pPr marL="1713819" algn="l" defTabSz="685527" rtl="0" eaLnBrk="1" latinLnBrk="0" hangingPunct="1">
      <a:defRPr sz="896" kern="1200">
        <a:solidFill>
          <a:schemeClr val="tx1"/>
        </a:solidFill>
        <a:latin typeface="+mn-lt"/>
        <a:ea typeface="+mn-ea"/>
        <a:cs typeface="+mn-cs"/>
      </a:defRPr>
    </a:lvl6pPr>
    <a:lvl7pPr marL="2056581" algn="l" defTabSz="685527" rtl="0" eaLnBrk="1" latinLnBrk="0" hangingPunct="1">
      <a:defRPr sz="896" kern="1200">
        <a:solidFill>
          <a:schemeClr val="tx1"/>
        </a:solidFill>
        <a:latin typeface="+mn-lt"/>
        <a:ea typeface="+mn-ea"/>
        <a:cs typeface="+mn-cs"/>
      </a:defRPr>
    </a:lvl7pPr>
    <a:lvl8pPr marL="2399345" algn="l" defTabSz="685527" rtl="0" eaLnBrk="1" latinLnBrk="0" hangingPunct="1">
      <a:defRPr sz="896" kern="1200">
        <a:solidFill>
          <a:schemeClr val="tx1"/>
        </a:solidFill>
        <a:latin typeface="+mn-lt"/>
        <a:ea typeface="+mn-ea"/>
        <a:cs typeface="+mn-cs"/>
      </a:defRPr>
    </a:lvl8pPr>
    <a:lvl9pPr marL="2742108" algn="l" defTabSz="685527" rtl="0" eaLnBrk="1" latinLnBrk="0" hangingPunct="1">
      <a:defRPr sz="89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921E10DB-8A1A-9568-9757-60E473D23A3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6" name="Rectangle 3">
            <a:extLst>
              <a:ext uri="{FF2B5EF4-FFF2-40B4-BE49-F238E27FC236}">
                <a16:creationId xmlns:a16="http://schemas.microsoft.com/office/drawing/2014/main" id="{2465A704-47B3-61AC-8774-E7B697500E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 eaLnBrk="1" hangingPunct="1">
              <a:defRPr/>
            </a:pPr>
            <a:endParaRPr lang="tr-TR" altLang="tr-TR" sz="896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73856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E7F2CF6-1D00-D008-3041-D7023FCAF3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49997" y="5302386"/>
            <a:ext cx="18899981" cy="11279752"/>
          </a:xfrm>
        </p:spPr>
        <p:txBody>
          <a:bodyPr anchor="b"/>
          <a:lstStyle>
            <a:lvl1pPr algn="ctr">
              <a:defRPr sz="12401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49E4CC39-72FC-615B-49B9-51945BB3A6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49997" y="17017128"/>
            <a:ext cx="18899981" cy="7822326"/>
          </a:xfrm>
        </p:spPr>
        <p:txBody>
          <a:bodyPr/>
          <a:lstStyle>
            <a:lvl1pPr marL="0" indent="0" algn="ctr">
              <a:buNone/>
              <a:defRPr sz="4961"/>
            </a:lvl1pPr>
            <a:lvl2pPr marL="944987" indent="0" algn="ctr">
              <a:buNone/>
              <a:defRPr sz="4134"/>
            </a:lvl2pPr>
            <a:lvl3pPr marL="1889973" indent="0" algn="ctr">
              <a:buNone/>
              <a:defRPr sz="3720"/>
            </a:lvl3pPr>
            <a:lvl4pPr marL="2834960" indent="0" algn="ctr">
              <a:buNone/>
              <a:defRPr sz="3307"/>
            </a:lvl4pPr>
            <a:lvl5pPr marL="3779947" indent="0" algn="ctr">
              <a:buNone/>
              <a:defRPr sz="3307"/>
            </a:lvl5pPr>
            <a:lvl6pPr marL="4724933" indent="0" algn="ctr">
              <a:buNone/>
              <a:defRPr sz="3307"/>
            </a:lvl6pPr>
            <a:lvl7pPr marL="5669920" indent="0" algn="ctr">
              <a:buNone/>
              <a:defRPr sz="3307"/>
            </a:lvl7pPr>
            <a:lvl8pPr marL="6614907" indent="0" algn="ctr">
              <a:buNone/>
              <a:defRPr sz="3307"/>
            </a:lvl8pPr>
            <a:lvl9pPr marL="7559893" indent="0" algn="ctr">
              <a:buNone/>
              <a:defRPr sz="3307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A851D69F-4318-B7B1-FA41-40AE16785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D14D32BB-F8A5-FC31-6B79-06A9AE86F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tr-TR" altLang="tr-TR"/>
              <a:t>Xplore</a:t>
            </a:r>
            <a:r>
              <a:rPr lang="tr-TR" altLang="en-US"/>
              <a:t>’</a:t>
            </a:r>
            <a:r>
              <a:rPr lang="tr-TR" altLang="tr-TR"/>
              <a:t>08 March 14, Phoenix Contact, Blomberg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68BDE4FC-7349-AA91-96BF-CB943860A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0812B67-C7F9-4EE8-BDC0-25A7FB165ADF}" type="slidenum">
              <a:rPr lang="en-US" altLang="tr-TR" smtClean="0"/>
              <a:pPr>
                <a:defRPr/>
              </a:pPr>
              <a:t>‹#›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30789125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B81AE58-7DEB-4BEA-21A0-3F29FF5D7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8B69B2D6-B679-F04B-67D9-6928FB9C10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39CA2D07-A9C2-4097-3B00-6255C72CF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8BEE3CC7-4E66-4ED8-E4BF-3977B35C8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tr-TR" altLang="tr-TR"/>
              <a:t>Xplore</a:t>
            </a:r>
            <a:r>
              <a:rPr lang="tr-TR" altLang="en-US"/>
              <a:t>’</a:t>
            </a:r>
            <a:r>
              <a:rPr lang="tr-TR" altLang="tr-TR"/>
              <a:t>08 March 14, Phoenix Contact, Blomberg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6E2071E7-7BC8-FA22-4D01-1E501EE15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0812B67-C7F9-4EE8-BDC0-25A7FB165ADF}" type="slidenum">
              <a:rPr lang="en-US" altLang="tr-TR" smtClean="0"/>
              <a:pPr>
                <a:defRPr/>
              </a:pPr>
              <a:t>‹#›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3478801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ACFF5CD-D791-3D22-DD0C-D4E5D060F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9374" y="8077327"/>
            <a:ext cx="21734978" cy="13477201"/>
          </a:xfrm>
        </p:spPr>
        <p:txBody>
          <a:bodyPr anchor="b"/>
          <a:lstStyle>
            <a:lvl1pPr>
              <a:defRPr sz="12401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D99872E8-8EBC-D27B-6A22-4DF3D387FE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19374" y="21682028"/>
            <a:ext cx="21734978" cy="7087342"/>
          </a:xfrm>
        </p:spPr>
        <p:txBody>
          <a:bodyPr/>
          <a:lstStyle>
            <a:lvl1pPr marL="0" indent="0">
              <a:buNone/>
              <a:defRPr sz="4961">
                <a:solidFill>
                  <a:schemeClr val="tx1">
                    <a:tint val="75000"/>
                  </a:schemeClr>
                </a:solidFill>
              </a:defRPr>
            </a:lvl1pPr>
            <a:lvl2pPr marL="944987" indent="0">
              <a:buNone/>
              <a:defRPr sz="4134">
                <a:solidFill>
                  <a:schemeClr val="tx1">
                    <a:tint val="75000"/>
                  </a:schemeClr>
                </a:solidFill>
              </a:defRPr>
            </a:lvl2pPr>
            <a:lvl3pPr marL="1889973" indent="0">
              <a:buNone/>
              <a:defRPr sz="3720">
                <a:solidFill>
                  <a:schemeClr val="tx1">
                    <a:tint val="75000"/>
                  </a:schemeClr>
                </a:solidFill>
              </a:defRPr>
            </a:lvl3pPr>
            <a:lvl4pPr marL="2834960" indent="0">
              <a:buNone/>
              <a:defRPr sz="3307">
                <a:solidFill>
                  <a:schemeClr val="tx1">
                    <a:tint val="75000"/>
                  </a:schemeClr>
                </a:solidFill>
              </a:defRPr>
            </a:lvl4pPr>
            <a:lvl5pPr marL="3779947" indent="0">
              <a:buNone/>
              <a:defRPr sz="3307">
                <a:solidFill>
                  <a:schemeClr val="tx1">
                    <a:tint val="75000"/>
                  </a:schemeClr>
                </a:solidFill>
              </a:defRPr>
            </a:lvl5pPr>
            <a:lvl6pPr marL="4724933" indent="0">
              <a:buNone/>
              <a:defRPr sz="3307">
                <a:solidFill>
                  <a:schemeClr val="tx1">
                    <a:tint val="75000"/>
                  </a:schemeClr>
                </a:solidFill>
              </a:defRPr>
            </a:lvl6pPr>
            <a:lvl7pPr marL="5669920" indent="0">
              <a:buNone/>
              <a:defRPr sz="3307">
                <a:solidFill>
                  <a:schemeClr val="tx1">
                    <a:tint val="75000"/>
                  </a:schemeClr>
                </a:solidFill>
              </a:defRPr>
            </a:lvl7pPr>
            <a:lvl8pPr marL="6614907" indent="0">
              <a:buNone/>
              <a:defRPr sz="3307">
                <a:solidFill>
                  <a:schemeClr val="tx1">
                    <a:tint val="75000"/>
                  </a:schemeClr>
                </a:solidFill>
              </a:defRPr>
            </a:lvl8pPr>
            <a:lvl9pPr marL="7559893" indent="0">
              <a:buNone/>
              <a:defRPr sz="330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29F7D51C-E2FC-79C1-9E1A-B897DB3DA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796C6720-45E4-2F42-853E-101BDBEB3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tr-TR" altLang="tr-TR"/>
              <a:t>Xplore</a:t>
            </a:r>
            <a:r>
              <a:rPr lang="tr-TR" altLang="en-US"/>
              <a:t>’</a:t>
            </a:r>
            <a:r>
              <a:rPr lang="tr-TR" altLang="tr-TR"/>
              <a:t>08 March 14, Phoenix Contact, Blomberg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9920568D-C23C-FECC-F614-6587B3A53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0812B67-C7F9-4EE8-BDC0-25A7FB165ADF}" type="slidenum">
              <a:rPr lang="en-US" altLang="tr-TR" smtClean="0"/>
              <a:pPr>
                <a:defRPr/>
              </a:pPr>
              <a:t>‹#›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41433791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536EA8B-D0B7-8CF6-B515-B78142DAA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33F9250-5920-6D56-F0C1-0E2A507429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732498" y="8624810"/>
            <a:ext cx="10709989" cy="20557051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AAEAC635-DC96-8DD2-4FBD-2F18FE687D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757488" y="8624810"/>
            <a:ext cx="10709989" cy="20557051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11098495-8834-0F3C-B702-4753B4B4B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729336B7-3246-3FFB-9199-EDE8C3D91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tr-TR" altLang="tr-TR"/>
              <a:t>Xplore</a:t>
            </a:r>
            <a:r>
              <a:rPr lang="tr-TR" altLang="en-US"/>
              <a:t>’</a:t>
            </a:r>
            <a:r>
              <a:rPr lang="tr-TR" altLang="tr-TR"/>
              <a:t>08 March 14, Phoenix Contact, Blomberg</a:t>
            </a:r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EC050A3F-C1B3-C431-DD8B-A2A7D7A4B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0812B67-C7F9-4EE8-BDC0-25A7FB165ADF}" type="slidenum">
              <a:rPr lang="en-US" altLang="tr-TR" smtClean="0"/>
              <a:pPr>
                <a:defRPr/>
              </a:pPr>
              <a:t>‹#›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3510771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1566376-D983-680C-DFAF-E8007DE10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5781" y="1724964"/>
            <a:ext cx="21734978" cy="6262365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4AF7490E-B6F7-0774-442E-DFDBEBF69F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35781" y="7942328"/>
            <a:ext cx="10660770" cy="3892412"/>
          </a:xfrm>
        </p:spPr>
        <p:txBody>
          <a:bodyPr anchor="b"/>
          <a:lstStyle>
            <a:lvl1pPr marL="0" indent="0">
              <a:buNone/>
              <a:defRPr sz="4961" b="1"/>
            </a:lvl1pPr>
            <a:lvl2pPr marL="944987" indent="0">
              <a:buNone/>
              <a:defRPr sz="4134" b="1"/>
            </a:lvl2pPr>
            <a:lvl3pPr marL="1889973" indent="0">
              <a:buNone/>
              <a:defRPr sz="3720" b="1"/>
            </a:lvl3pPr>
            <a:lvl4pPr marL="2834960" indent="0">
              <a:buNone/>
              <a:defRPr sz="3307" b="1"/>
            </a:lvl4pPr>
            <a:lvl5pPr marL="3779947" indent="0">
              <a:buNone/>
              <a:defRPr sz="3307" b="1"/>
            </a:lvl5pPr>
            <a:lvl6pPr marL="4724933" indent="0">
              <a:buNone/>
              <a:defRPr sz="3307" b="1"/>
            </a:lvl6pPr>
            <a:lvl7pPr marL="5669920" indent="0">
              <a:buNone/>
              <a:defRPr sz="3307" b="1"/>
            </a:lvl7pPr>
            <a:lvl8pPr marL="6614907" indent="0">
              <a:buNone/>
              <a:defRPr sz="3307" b="1"/>
            </a:lvl8pPr>
            <a:lvl9pPr marL="7559893" indent="0">
              <a:buNone/>
              <a:defRPr sz="3307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FC0239EE-427F-A1A4-025D-2DDD451FA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735781" y="11834740"/>
            <a:ext cx="10660770" cy="17407120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43A0E5C0-BBD0-EFA7-5826-02FBCD10E8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2757487" y="7942328"/>
            <a:ext cx="10713272" cy="3892412"/>
          </a:xfrm>
        </p:spPr>
        <p:txBody>
          <a:bodyPr anchor="b"/>
          <a:lstStyle>
            <a:lvl1pPr marL="0" indent="0">
              <a:buNone/>
              <a:defRPr sz="4961" b="1"/>
            </a:lvl1pPr>
            <a:lvl2pPr marL="944987" indent="0">
              <a:buNone/>
              <a:defRPr sz="4134" b="1"/>
            </a:lvl2pPr>
            <a:lvl3pPr marL="1889973" indent="0">
              <a:buNone/>
              <a:defRPr sz="3720" b="1"/>
            </a:lvl3pPr>
            <a:lvl4pPr marL="2834960" indent="0">
              <a:buNone/>
              <a:defRPr sz="3307" b="1"/>
            </a:lvl4pPr>
            <a:lvl5pPr marL="3779947" indent="0">
              <a:buNone/>
              <a:defRPr sz="3307" b="1"/>
            </a:lvl5pPr>
            <a:lvl6pPr marL="4724933" indent="0">
              <a:buNone/>
              <a:defRPr sz="3307" b="1"/>
            </a:lvl6pPr>
            <a:lvl7pPr marL="5669920" indent="0">
              <a:buNone/>
              <a:defRPr sz="3307" b="1"/>
            </a:lvl7pPr>
            <a:lvl8pPr marL="6614907" indent="0">
              <a:buNone/>
              <a:defRPr sz="3307" b="1"/>
            </a:lvl8pPr>
            <a:lvl9pPr marL="7559893" indent="0">
              <a:buNone/>
              <a:defRPr sz="3307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30DF2E37-0200-C099-3FAF-0A65A0B23C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2757487" y="11834740"/>
            <a:ext cx="10713272" cy="17407120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7D3002EB-3A74-7C0B-CE14-84147B3C0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34E9CE7A-62D3-565E-144D-D9B66F31F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tr-TR" altLang="tr-TR"/>
              <a:t>Xplore</a:t>
            </a:r>
            <a:r>
              <a:rPr lang="tr-TR" altLang="en-US"/>
              <a:t>’</a:t>
            </a:r>
            <a:r>
              <a:rPr lang="tr-TR" altLang="tr-TR"/>
              <a:t>08 March 14, Phoenix Contact, Blomberg</a:t>
            </a:r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D9F0291F-6E2F-77B9-E5DF-EE6209CE1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0812B67-C7F9-4EE8-BDC0-25A7FB165ADF}" type="slidenum">
              <a:rPr lang="en-US" altLang="tr-TR" smtClean="0"/>
              <a:pPr>
                <a:defRPr/>
              </a:pPr>
              <a:t>‹#›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21570922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5EA2900-36E3-9A61-B91A-B642643F7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E1B62845-A6A0-7FFC-B2D7-D8EEF71DA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0B6DED3B-8756-BC4A-2E37-28B58FF35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tr-TR" altLang="tr-TR"/>
              <a:t>Xplore</a:t>
            </a:r>
            <a:r>
              <a:rPr lang="tr-TR" altLang="en-US"/>
              <a:t>’</a:t>
            </a:r>
            <a:r>
              <a:rPr lang="tr-TR" altLang="tr-TR"/>
              <a:t>08 March 14, Phoenix Contact, Blomberg</a:t>
            </a:r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E18746CD-7B38-1F8A-C0B8-62143DCFF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0812B67-C7F9-4EE8-BDC0-25A7FB165ADF}" type="slidenum">
              <a:rPr lang="en-US" altLang="tr-TR" smtClean="0"/>
              <a:pPr>
                <a:defRPr/>
              </a:pPr>
              <a:t>‹#›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529581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22EF5E8F-80F8-33F8-CBF7-ACD216719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06314C1B-570D-E5BF-ED68-647B0CA13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tr-TR" altLang="tr-TR"/>
              <a:t>Xplore</a:t>
            </a:r>
            <a:r>
              <a:rPr lang="tr-TR" altLang="en-US"/>
              <a:t>’</a:t>
            </a:r>
            <a:r>
              <a:rPr lang="tr-TR" altLang="tr-TR"/>
              <a:t>08 March 14, Phoenix Contact, Blomberg</a:t>
            </a:r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FB74581F-3DCB-9A88-A4AF-896651C33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0812B67-C7F9-4EE8-BDC0-25A7FB165ADF}" type="slidenum">
              <a:rPr lang="en-US" altLang="tr-TR" smtClean="0"/>
              <a:pPr>
                <a:defRPr/>
              </a:pPr>
              <a:t>‹#›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23879038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C582082-77F9-D458-530A-2C8EAE519D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5782" y="2159952"/>
            <a:ext cx="8127647" cy="7559834"/>
          </a:xfrm>
        </p:spPr>
        <p:txBody>
          <a:bodyPr anchor="b"/>
          <a:lstStyle>
            <a:lvl1pPr>
              <a:defRPr sz="6614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48E346C-35CE-28DD-B378-6407847D1D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13272" y="4664900"/>
            <a:ext cx="12757487" cy="23024494"/>
          </a:xfrm>
        </p:spPr>
        <p:txBody>
          <a:bodyPr/>
          <a:lstStyle>
            <a:lvl1pPr>
              <a:defRPr sz="6614"/>
            </a:lvl1pPr>
            <a:lvl2pPr>
              <a:defRPr sz="5787"/>
            </a:lvl2pPr>
            <a:lvl3pPr>
              <a:defRPr sz="4961"/>
            </a:lvl3pPr>
            <a:lvl4pPr>
              <a:defRPr sz="4134"/>
            </a:lvl4pPr>
            <a:lvl5pPr>
              <a:defRPr sz="4134"/>
            </a:lvl5pPr>
            <a:lvl6pPr>
              <a:defRPr sz="4134"/>
            </a:lvl6pPr>
            <a:lvl7pPr>
              <a:defRPr sz="4134"/>
            </a:lvl7pPr>
            <a:lvl8pPr>
              <a:defRPr sz="4134"/>
            </a:lvl8pPr>
            <a:lvl9pPr>
              <a:defRPr sz="4134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36140CB0-3A43-B8EE-43AB-F9857E8A87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35782" y="9719786"/>
            <a:ext cx="8127647" cy="18007107"/>
          </a:xfrm>
        </p:spPr>
        <p:txBody>
          <a:bodyPr/>
          <a:lstStyle>
            <a:lvl1pPr marL="0" indent="0">
              <a:buNone/>
              <a:defRPr sz="3307"/>
            </a:lvl1pPr>
            <a:lvl2pPr marL="944987" indent="0">
              <a:buNone/>
              <a:defRPr sz="2894"/>
            </a:lvl2pPr>
            <a:lvl3pPr marL="1889973" indent="0">
              <a:buNone/>
              <a:defRPr sz="2480"/>
            </a:lvl3pPr>
            <a:lvl4pPr marL="2834960" indent="0">
              <a:buNone/>
              <a:defRPr sz="2067"/>
            </a:lvl4pPr>
            <a:lvl5pPr marL="3779947" indent="0">
              <a:buNone/>
              <a:defRPr sz="2067"/>
            </a:lvl5pPr>
            <a:lvl6pPr marL="4724933" indent="0">
              <a:buNone/>
              <a:defRPr sz="2067"/>
            </a:lvl6pPr>
            <a:lvl7pPr marL="5669920" indent="0">
              <a:buNone/>
              <a:defRPr sz="2067"/>
            </a:lvl7pPr>
            <a:lvl8pPr marL="6614907" indent="0">
              <a:buNone/>
              <a:defRPr sz="2067"/>
            </a:lvl8pPr>
            <a:lvl9pPr marL="7559893" indent="0">
              <a:buNone/>
              <a:defRPr sz="2067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0A77B7CD-489F-C419-D36F-83B44E450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521A2D1C-23E2-D385-2F77-38A066C48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tr-TR" altLang="tr-TR"/>
              <a:t>Xplore</a:t>
            </a:r>
            <a:r>
              <a:rPr lang="tr-TR" altLang="en-US"/>
              <a:t>’</a:t>
            </a:r>
            <a:r>
              <a:rPr lang="tr-TR" altLang="tr-TR"/>
              <a:t>08 March 14, Phoenix Contact, Blomberg</a:t>
            </a:r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3A5EC61B-93AB-A20D-2814-31473F405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0812B67-C7F9-4EE8-BDC0-25A7FB165ADF}" type="slidenum">
              <a:rPr lang="en-US" altLang="tr-TR" smtClean="0"/>
              <a:pPr>
                <a:defRPr/>
              </a:pPr>
              <a:t>‹#›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32806577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94C1045-1B83-F174-6BFE-4BD89BE7C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5782" y="2159952"/>
            <a:ext cx="8127647" cy="7559834"/>
          </a:xfrm>
        </p:spPr>
        <p:txBody>
          <a:bodyPr anchor="b"/>
          <a:lstStyle>
            <a:lvl1pPr>
              <a:defRPr sz="6614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CA03894E-ED88-143F-3E57-C6A6AE6669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0713272" y="4664900"/>
            <a:ext cx="12757487" cy="23024494"/>
          </a:xfrm>
        </p:spPr>
        <p:txBody>
          <a:bodyPr/>
          <a:lstStyle>
            <a:lvl1pPr marL="0" indent="0">
              <a:buNone/>
              <a:defRPr sz="6614"/>
            </a:lvl1pPr>
            <a:lvl2pPr marL="944987" indent="0">
              <a:buNone/>
              <a:defRPr sz="5787"/>
            </a:lvl2pPr>
            <a:lvl3pPr marL="1889973" indent="0">
              <a:buNone/>
              <a:defRPr sz="4961"/>
            </a:lvl3pPr>
            <a:lvl4pPr marL="2834960" indent="0">
              <a:buNone/>
              <a:defRPr sz="4134"/>
            </a:lvl4pPr>
            <a:lvl5pPr marL="3779947" indent="0">
              <a:buNone/>
              <a:defRPr sz="4134"/>
            </a:lvl5pPr>
            <a:lvl6pPr marL="4724933" indent="0">
              <a:buNone/>
              <a:defRPr sz="4134"/>
            </a:lvl6pPr>
            <a:lvl7pPr marL="5669920" indent="0">
              <a:buNone/>
              <a:defRPr sz="4134"/>
            </a:lvl7pPr>
            <a:lvl8pPr marL="6614907" indent="0">
              <a:buNone/>
              <a:defRPr sz="4134"/>
            </a:lvl8pPr>
            <a:lvl9pPr marL="7559893" indent="0">
              <a:buNone/>
              <a:defRPr sz="4134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10143861-E665-CB23-B521-ECB2421217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35782" y="9719786"/>
            <a:ext cx="8127647" cy="18007107"/>
          </a:xfrm>
        </p:spPr>
        <p:txBody>
          <a:bodyPr/>
          <a:lstStyle>
            <a:lvl1pPr marL="0" indent="0">
              <a:buNone/>
              <a:defRPr sz="3307"/>
            </a:lvl1pPr>
            <a:lvl2pPr marL="944987" indent="0">
              <a:buNone/>
              <a:defRPr sz="2894"/>
            </a:lvl2pPr>
            <a:lvl3pPr marL="1889973" indent="0">
              <a:buNone/>
              <a:defRPr sz="2480"/>
            </a:lvl3pPr>
            <a:lvl4pPr marL="2834960" indent="0">
              <a:buNone/>
              <a:defRPr sz="2067"/>
            </a:lvl4pPr>
            <a:lvl5pPr marL="3779947" indent="0">
              <a:buNone/>
              <a:defRPr sz="2067"/>
            </a:lvl5pPr>
            <a:lvl6pPr marL="4724933" indent="0">
              <a:buNone/>
              <a:defRPr sz="2067"/>
            </a:lvl6pPr>
            <a:lvl7pPr marL="5669920" indent="0">
              <a:buNone/>
              <a:defRPr sz="2067"/>
            </a:lvl7pPr>
            <a:lvl8pPr marL="6614907" indent="0">
              <a:buNone/>
              <a:defRPr sz="2067"/>
            </a:lvl8pPr>
            <a:lvl9pPr marL="7559893" indent="0">
              <a:buNone/>
              <a:defRPr sz="2067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ED087D29-564C-09E4-F93F-F135D312D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A260B766-52BD-7171-4A5F-C4718BD93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tr-TR" altLang="tr-TR"/>
              <a:t>Xplore</a:t>
            </a:r>
            <a:r>
              <a:rPr lang="tr-TR" altLang="en-US"/>
              <a:t>’</a:t>
            </a:r>
            <a:r>
              <a:rPr lang="tr-TR" altLang="tr-TR"/>
              <a:t>08 March 14, Phoenix Contact, Blomberg</a:t>
            </a:r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1D9FC788-FD73-FA63-FEC5-55C2E312A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0812B67-C7F9-4EE8-BDC0-25A7FB165ADF}" type="slidenum">
              <a:rPr lang="en-US" altLang="tr-TR" smtClean="0"/>
              <a:pPr>
                <a:defRPr/>
              </a:pPr>
              <a:t>‹#›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3432510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3854A8F-5F40-13E8-96C5-FBA2061CB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47214D0D-8EB5-217B-0663-2B9E711CDD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E2EDE6B5-112D-1DA7-622B-4D7483768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AE0627BD-9382-D89C-7022-F6F764698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tr-TR" altLang="tr-TR"/>
              <a:t>Xplore</a:t>
            </a:r>
            <a:r>
              <a:rPr lang="tr-TR" altLang="en-US"/>
              <a:t>’</a:t>
            </a:r>
            <a:r>
              <a:rPr lang="tr-TR" altLang="tr-TR"/>
              <a:t>08 March 14, Phoenix Contact, Blomberg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0EE20983-FB27-6FBC-B667-C07EE8F08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0812B67-C7F9-4EE8-BDC0-25A7FB165ADF}" type="slidenum">
              <a:rPr lang="en-US" altLang="tr-TR" smtClean="0"/>
              <a:pPr>
                <a:defRPr/>
              </a:pPr>
              <a:t>‹#›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16897492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C7356947-D541-CB01-1BF5-4A53E1A7FD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8033732" y="1724962"/>
            <a:ext cx="5433745" cy="27456899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2416B9BB-657E-5BD6-68D8-F6587C0B84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732498" y="1724962"/>
            <a:ext cx="15986234" cy="27456899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5B288246-0FA4-674E-0175-A84B1FF43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4F2849CA-1319-47E7-BD61-9FF6A7A0D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tr-TR" altLang="tr-TR"/>
              <a:t>Xplore</a:t>
            </a:r>
            <a:r>
              <a:rPr lang="tr-TR" altLang="en-US"/>
              <a:t>’</a:t>
            </a:r>
            <a:r>
              <a:rPr lang="tr-TR" altLang="tr-TR"/>
              <a:t>08 March 14, Phoenix Contact, Blomberg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9FC2EAE8-33BE-E86A-76BE-D7D067A8C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0812B67-C7F9-4EE8-BDC0-25A7FB165ADF}" type="slidenum">
              <a:rPr lang="en-US" altLang="tr-TR" smtClean="0"/>
              <a:pPr>
                <a:defRPr/>
              </a:pPr>
              <a:t>‹#›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40938799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EC2AD57A-12CB-B6FD-C99E-CC8F9B124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2499" y="1724964"/>
            <a:ext cx="21734978" cy="62623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19EAAC8D-0145-9832-240E-EEECE8BC6D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32499" y="8624810"/>
            <a:ext cx="21734978" cy="205570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CD69A598-6DBD-1CA8-29AB-15EF892A45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732498" y="30029342"/>
            <a:ext cx="5669994" cy="17249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26D7D104-11A4-A1E4-302F-794441A891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47492" y="30029342"/>
            <a:ext cx="8504992" cy="17249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tr-TR" altLang="tr-TR"/>
              <a:t>Xplore</a:t>
            </a:r>
            <a:r>
              <a:rPr lang="tr-TR" altLang="en-US"/>
              <a:t>’</a:t>
            </a:r>
            <a:r>
              <a:rPr lang="tr-TR" altLang="tr-TR"/>
              <a:t>08 March 14, Phoenix Contact, Blomberg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D50BDA0A-00A0-9864-2A75-950F495B5F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7797483" y="30029342"/>
            <a:ext cx="5669994" cy="17249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0812B67-C7F9-4EE8-BDC0-25A7FB165ADF}" type="slidenum">
              <a:rPr lang="en-US" altLang="tr-TR" smtClean="0"/>
              <a:pPr>
                <a:defRPr/>
              </a:pPr>
              <a:t>‹#›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30309701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889973" rtl="0" eaLnBrk="1" latinLnBrk="0" hangingPunct="1">
        <a:lnSpc>
          <a:spcPct val="90000"/>
        </a:lnSpc>
        <a:spcBef>
          <a:spcPct val="0"/>
        </a:spcBef>
        <a:buNone/>
        <a:defRPr sz="909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72493" indent="-472493" algn="l" defTabSz="1889973" rtl="0" eaLnBrk="1" latinLnBrk="0" hangingPunct="1">
        <a:lnSpc>
          <a:spcPct val="90000"/>
        </a:lnSpc>
        <a:spcBef>
          <a:spcPts val="2067"/>
        </a:spcBef>
        <a:buFont typeface="Arial" panose="020B0604020202020204" pitchFamily="34" charset="0"/>
        <a:buChar char="•"/>
        <a:defRPr sz="5787" kern="1200">
          <a:solidFill>
            <a:schemeClr val="tx1"/>
          </a:solidFill>
          <a:latin typeface="+mn-lt"/>
          <a:ea typeface="+mn-ea"/>
          <a:cs typeface="+mn-cs"/>
        </a:defRPr>
      </a:lvl1pPr>
      <a:lvl2pPr marL="1417480" indent="-472493" algn="l" defTabSz="1889973" rtl="0" eaLnBrk="1" latinLnBrk="0" hangingPunct="1">
        <a:lnSpc>
          <a:spcPct val="90000"/>
        </a:lnSpc>
        <a:spcBef>
          <a:spcPts val="1033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2pPr>
      <a:lvl3pPr marL="2362467" indent="-472493" algn="l" defTabSz="1889973" rtl="0" eaLnBrk="1" latinLnBrk="0" hangingPunct="1">
        <a:lnSpc>
          <a:spcPct val="90000"/>
        </a:lnSpc>
        <a:spcBef>
          <a:spcPts val="1033"/>
        </a:spcBef>
        <a:buFont typeface="Arial" panose="020B0604020202020204" pitchFamily="34" charset="0"/>
        <a:buChar char="•"/>
        <a:defRPr sz="4134" kern="1200">
          <a:solidFill>
            <a:schemeClr val="tx1"/>
          </a:solidFill>
          <a:latin typeface="+mn-lt"/>
          <a:ea typeface="+mn-ea"/>
          <a:cs typeface="+mn-cs"/>
        </a:defRPr>
      </a:lvl3pPr>
      <a:lvl4pPr marL="3307453" indent="-472493" algn="l" defTabSz="1889973" rtl="0" eaLnBrk="1" latinLnBrk="0" hangingPunct="1">
        <a:lnSpc>
          <a:spcPct val="90000"/>
        </a:lnSpc>
        <a:spcBef>
          <a:spcPts val="1033"/>
        </a:spcBef>
        <a:buFont typeface="Arial" panose="020B0604020202020204" pitchFamily="34" charset="0"/>
        <a:buChar char="•"/>
        <a:defRPr sz="3720" kern="1200">
          <a:solidFill>
            <a:schemeClr val="tx1"/>
          </a:solidFill>
          <a:latin typeface="+mn-lt"/>
          <a:ea typeface="+mn-ea"/>
          <a:cs typeface="+mn-cs"/>
        </a:defRPr>
      </a:lvl4pPr>
      <a:lvl5pPr marL="4252440" indent="-472493" algn="l" defTabSz="1889973" rtl="0" eaLnBrk="1" latinLnBrk="0" hangingPunct="1">
        <a:lnSpc>
          <a:spcPct val="90000"/>
        </a:lnSpc>
        <a:spcBef>
          <a:spcPts val="1033"/>
        </a:spcBef>
        <a:buFont typeface="Arial" panose="020B0604020202020204" pitchFamily="34" charset="0"/>
        <a:buChar char="•"/>
        <a:defRPr sz="3720" kern="1200">
          <a:solidFill>
            <a:schemeClr val="tx1"/>
          </a:solidFill>
          <a:latin typeface="+mn-lt"/>
          <a:ea typeface="+mn-ea"/>
          <a:cs typeface="+mn-cs"/>
        </a:defRPr>
      </a:lvl5pPr>
      <a:lvl6pPr marL="5197427" indent="-472493" algn="l" defTabSz="1889973" rtl="0" eaLnBrk="1" latinLnBrk="0" hangingPunct="1">
        <a:lnSpc>
          <a:spcPct val="90000"/>
        </a:lnSpc>
        <a:spcBef>
          <a:spcPts val="1033"/>
        </a:spcBef>
        <a:buFont typeface="Arial" panose="020B0604020202020204" pitchFamily="34" charset="0"/>
        <a:buChar char="•"/>
        <a:defRPr sz="3720" kern="1200">
          <a:solidFill>
            <a:schemeClr val="tx1"/>
          </a:solidFill>
          <a:latin typeface="+mn-lt"/>
          <a:ea typeface="+mn-ea"/>
          <a:cs typeface="+mn-cs"/>
        </a:defRPr>
      </a:lvl6pPr>
      <a:lvl7pPr marL="6142413" indent="-472493" algn="l" defTabSz="1889973" rtl="0" eaLnBrk="1" latinLnBrk="0" hangingPunct="1">
        <a:lnSpc>
          <a:spcPct val="90000"/>
        </a:lnSpc>
        <a:spcBef>
          <a:spcPts val="1033"/>
        </a:spcBef>
        <a:buFont typeface="Arial" panose="020B0604020202020204" pitchFamily="34" charset="0"/>
        <a:buChar char="•"/>
        <a:defRPr sz="3720" kern="1200">
          <a:solidFill>
            <a:schemeClr val="tx1"/>
          </a:solidFill>
          <a:latin typeface="+mn-lt"/>
          <a:ea typeface="+mn-ea"/>
          <a:cs typeface="+mn-cs"/>
        </a:defRPr>
      </a:lvl7pPr>
      <a:lvl8pPr marL="7087400" indent="-472493" algn="l" defTabSz="1889973" rtl="0" eaLnBrk="1" latinLnBrk="0" hangingPunct="1">
        <a:lnSpc>
          <a:spcPct val="90000"/>
        </a:lnSpc>
        <a:spcBef>
          <a:spcPts val="1033"/>
        </a:spcBef>
        <a:buFont typeface="Arial" panose="020B0604020202020204" pitchFamily="34" charset="0"/>
        <a:buChar char="•"/>
        <a:defRPr sz="3720" kern="1200">
          <a:solidFill>
            <a:schemeClr val="tx1"/>
          </a:solidFill>
          <a:latin typeface="+mn-lt"/>
          <a:ea typeface="+mn-ea"/>
          <a:cs typeface="+mn-cs"/>
        </a:defRPr>
      </a:lvl8pPr>
      <a:lvl9pPr marL="8032387" indent="-472493" algn="l" defTabSz="1889973" rtl="0" eaLnBrk="1" latinLnBrk="0" hangingPunct="1">
        <a:lnSpc>
          <a:spcPct val="90000"/>
        </a:lnSpc>
        <a:spcBef>
          <a:spcPts val="1033"/>
        </a:spcBef>
        <a:buFont typeface="Arial" panose="020B0604020202020204" pitchFamily="34" charset="0"/>
        <a:buChar char="•"/>
        <a:defRPr sz="37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1889973" rtl="0" eaLnBrk="1" latinLnBrk="0" hangingPunct="1">
        <a:defRPr sz="3720" kern="1200">
          <a:solidFill>
            <a:schemeClr val="tx1"/>
          </a:solidFill>
          <a:latin typeface="+mn-lt"/>
          <a:ea typeface="+mn-ea"/>
          <a:cs typeface="+mn-cs"/>
        </a:defRPr>
      </a:lvl1pPr>
      <a:lvl2pPr marL="944987" algn="l" defTabSz="1889973" rtl="0" eaLnBrk="1" latinLnBrk="0" hangingPunct="1">
        <a:defRPr sz="3720" kern="1200">
          <a:solidFill>
            <a:schemeClr val="tx1"/>
          </a:solidFill>
          <a:latin typeface="+mn-lt"/>
          <a:ea typeface="+mn-ea"/>
          <a:cs typeface="+mn-cs"/>
        </a:defRPr>
      </a:lvl2pPr>
      <a:lvl3pPr marL="1889973" algn="l" defTabSz="1889973" rtl="0" eaLnBrk="1" latinLnBrk="0" hangingPunct="1">
        <a:defRPr sz="3720" kern="1200">
          <a:solidFill>
            <a:schemeClr val="tx1"/>
          </a:solidFill>
          <a:latin typeface="+mn-lt"/>
          <a:ea typeface="+mn-ea"/>
          <a:cs typeface="+mn-cs"/>
        </a:defRPr>
      </a:lvl3pPr>
      <a:lvl4pPr marL="2834960" algn="l" defTabSz="1889973" rtl="0" eaLnBrk="1" latinLnBrk="0" hangingPunct="1">
        <a:defRPr sz="3720" kern="1200">
          <a:solidFill>
            <a:schemeClr val="tx1"/>
          </a:solidFill>
          <a:latin typeface="+mn-lt"/>
          <a:ea typeface="+mn-ea"/>
          <a:cs typeface="+mn-cs"/>
        </a:defRPr>
      </a:lvl4pPr>
      <a:lvl5pPr marL="3779947" algn="l" defTabSz="1889973" rtl="0" eaLnBrk="1" latinLnBrk="0" hangingPunct="1">
        <a:defRPr sz="3720" kern="1200">
          <a:solidFill>
            <a:schemeClr val="tx1"/>
          </a:solidFill>
          <a:latin typeface="+mn-lt"/>
          <a:ea typeface="+mn-ea"/>
          <a:cs typeface="+mn-cs"/>
        </a:defRPr>
      </a:lvl5pPr>
      <a:lvl6pPr marL="4724933" algn="l" defTabSz="1889973" rtl="0" eaLnBrk="1" latinLnBrk="0" hangingPunct="1">
        <a:defRPr sz="3720" kern="1200">
          <a:solidFill>
            <a:schemeClr val="tx1"/>
          </a:solidFill>
          <a:latin typeface="+mn-lt"/>
          <a:ea typeface="+mn-ea"/>
          <a:cs typeface="+mn-cs"/>
        </a:defRPr>
      </a:lvl6pPr>
      <a:lvl7pPr marL="5669920" algn="l" defTabSz="1889973" rtl="0" eaLnBrk="1" latinLnBrk="0" hangingPunct="1">
        <a:defRPr sz="3720" kern="1200">
          <a:solidFill>
            <a:schemeClr val="tx1"/>
          </a:solidFill>
          <a:latin typeface="+mn-lt"/>
          <a:ea typeface="+mn-ea"/>
          <a:cs typeface="+mn-cs"/>
        </a:defRPr>
      </a:lvl7pPr>
      <a:lvl8pPr marL="6614907" algn="l" defTabSz="1889973" rtl="0" eaLnBrk="1" latinLnBrk="0" hangingPunct="1">
        <a:defRPr sz="3720" kern="1200">
          <a:solidFill>
            <a:schemeClr val="tx1"/>
          </a:solidFill>
          <a:latin typeface="+mn-lt"/>
          <a:ea typeface="+mn-ea"/>
          <a:cs typeface="+mn-cs"/>
        </a:defRPr>
      </a:lvl8pPr>
      <a:lvl9pPr marL="7559893" algn="l" defTabSz="1889973" rtl="0" eaLnBrk="1" latinLnBrk="0" hangingPunct="1">
        <a:defRPr sz="37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Metin kutusu 11">
            <a:extLst>
              <a:ext uri="{FF2B5EF4-FFF2-40B4-BE49-F238E27FC236}">
                <a16:creationId xmlns:a16="http://schemas.microsoft.com/office/drawing/2014/main" id="{0B032233-AE26-6738-D271-B6E5AC52C3F3}"/>
              </a:ext>
            </a:extLst>
          </p:cNvPr>
          <p:cNvSpPr txBox="1">
            <a:spLocks/>
          </p:cNvSpPr>
          <p:nvPr/>
        </p:nvSpPr>
        <p:spPr>
          <a:xfrm>
            <a:off x="875174" y="5865106"/>
            <a:ext cx="23610696" cy="13807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180000" tIns="36000" rIns="180000" bIns="3600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tr-TR" sz="3000" b="1" noProof="0" dirty="0"/>
              <a:t>ÖZET</a:t>
            </a:r>
          </a:p>
          <a:p>
            <a:pPr algn="just"/>
            <a:r>
              <a:rPr lang="tr-TR" sz="2000" noProof="0" dirty="0"/>
              <a:t>Bu çalışma, makroekonomik göstergelerdeki sürpriz değişimlerin, finansal piyasalardaki sektörel volatilite (Teknoloji, Enerji, Finans, Sağlık) üzerindeki nedenselliğini yapısal bir çerçevede analiz etmiştir. İleriye dönük yanlılığı engellemek için AR(1) modellerinden elde edilen sürprizler kullanılmış; analizler sonucunda sektörlerin makroekonomik verilere asimetrik ve farklı gecikmelerle tepki verdiği saptanmıştır.</a:t>
            </a:r>
          </a:p>
        </p:txBody>
      </p:sp>
      <p:sp>
        <p:nvSpPr>
          <p:cNvPr id="13" name="Metin kutusu 12">
            <a:extLst>
              <a:ext uri="{FF2B5EF4-FFF2-40B4-BE49-F238E27FC236}">
                <a16:creationId xmlns:a16="http://schemas.microsoft.com/office/drawing/2014/main" id="{886D895D-2E71-6FBC-DFD8-6849B3392400}"/>
              </a:ext>
            </a:extLst>
          </p:cNvPr>
          <p:cNvSpPr txBox="1"/>
          <p:nvPr/>
        </p:nvSpPr>
        <p:spPr>
          <a:xfrm>
            <a:off x="875173" y="7817644"/>
            <a:ext cx="11343813" cy="23694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180000" tIns="36000" rIns="180000" bIns="3600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tr-TR" sz="3000" b="1" noProof="0" dirty="0"/>
              <a:t>AMAÇ VE PROBLEM TANIMI</a:t>
            </a:r>
          </a:p>
          <a:p>
            <a:pPr algn="just"/>
            <a:r>
              <a:rPr lang="tr-TR" sz="2000" noProof="0" dirty="0"/>
              <a:t>Genel borsa endeksleri (</a:t>
            </a:r>
            <a:r>
              <a:rPr lang="tr-TR" sz="2000" noProof="0" dirty="0" err="1"/>
              <a:t>örn</a:t>
            </a:r>
            <a:r>
              <a:rPr lang="tr-TR" sz="2000" noProof="0" dirty="0"/>
              <a:t>. S&amp;P 500), makroekonomik duyuruların alt sektörler üzerindeki asimetrik etkilerini maskelemektedir. Bu çalışmanın temel finansal amacı: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tr-TR" sz="2000" noProof="0" dirty="0"/>
              <a:t>Rasyonel piyasaların, kamuya açıklanan verinin ham hâline değil, </a:t>
            </a:r>
            <a:r>
              <a:rPr lang="tr-TR" sz="2000" b="1" noProof="0" dirty="0"/>
              <a:t>beklentiden sapan "sürpriz" kısmına</a:t>
            </a:r>
            <a:r>
              <a:rPr lang="tr-TR" sz="2000" noProof="0" dirty="0"/>
              <a:t> nasıl tepki verdiğini ölçmek.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endParaRPr lang="tr-TR" sz="2000" noProof="0" dirty="0"/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tr-TR" sz="2000" noProof="0" dirty="0"/>
              <a:t>Enflasyon, faiz, ticaret ve istihdam şoklarının; Teknoloji, Enerji, Finans ve Sağlık sektörleri üzerindeki </a:t>
            </a:r>
            <a:r>
              <a:rPr lang="tr-TR" sz="2000" b="1" noProof="0" dirty="0"/>
              <a:t>anlık yayılım hızını ve şiddetini</a:t>
            </a:r>
            <a:r>
              <a:rPr lang="tr-TR" sz="2000" noProof="0" dirty="0"/>
              <a:t> haritalandırmak</a:t>
            </a:r>
          </a:p>
          <a:p>
            <a:pPr lvl="1" algn="just"/>
            <a:endParaRPr lang="tr-TR" sz="2000" noProof="0" dirty="0"/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tr-TR" sz="2000" noProof="0" dirty="0"/>
              <a:t>Yatırımcılara ve portföy yöneticilerine, makroekonomik haber akışlarında kullanabilecekleri, piyasa mikro-dinamiklerini yansıtan </a:t>
            </a:r>
            <a:r>
              <a:rPr lang="tr-TR" sz="2000" b="1" noProof="0" dirty="0"/>
              <a:t>sektörel bazlı şeffaf bir risk haritası</a:t>
            </a:r>
            <a:r>
              <a:rPr lang="tr-TR" sz="2000" noProof="0" dirty="0"/>
              <a:t> sunmak.</a:t>
            </a:r>
          </a:p>
          <a:p>
            <a:pPr algn="ctr">
              <a:lnSpc>
                <a:spcPct val="150000"/>
              </a:lnSpc>
            </a:pPr>
            <a:r>
              <a:rPr lang="tr-TR" sz="3000" b="1" noProof="0" dirty="0"/>
              <a:t>VERİ SETİ VE YÖNTEM</a:t>
            </a:r>
          </a:p>
          <a:p>
            <a:pPr algn="just">
              <a:buNone/>
            </a:pPr>
            <a:r>
              <a:rPr lang="tr-TR" sz="2000" noProof="0" dirty="0"/>
              <a:t>Makroekonomik duyuruların piyasa mikro-yapısındaki etkilerini izole etmek için çok aşamalı yapısal bir ekonometrik tasarım kullanılmıştır: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tr-TR" sz="2000" b="1" noProof="0" dirty="0"/>
              <a:t>Veri Ekosistemi:</a:t>
            </a:r>
            <a:r>
              <a:rPr lang="tr-TR" sz="2000" noProof="0" dirty="0"/>
              <a:t> 2000-2024 yıllarını kapsayan, ABD enflasyon (TÜFE/ÜFE), istihdam (NFP), likidite (M1) ve sektörel (XLK, XLE, XLF, XLV) piyasa verileri kullanılmıştır.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tr-TR" sz="2000" noProof="0" dirty="0"/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tr-TR" sz="2000" b="1" noProof="0" dirty="0"/>
              <a:t>Sinyali Gürültüden Ayırmak (AR Modelleri):</a:t>
            </a:r>
            <a:r>
              <a:rPr lang="tr-TR" sz="2000" noProof="0" dirty="0"/>
              <a:t> Piyasaların "beklenti" mekanizmasını modellemek ve ileriye dönük yanlılığı (</a:t>
            </a:r>
            <a:r>
              <a:rPr lang="tr-TR" sz="2000" noProof="0" dirty="0" err="1"/>
              <a:t>look-ahead</a:t>
            </a:r>
            <a:r>
              <a:rPr lang="tr-TR" sz="2000" noProof="0" dirty="0"/>
              <a:t> </a:t>
            </a:r>
            <a:r>
              <a:rPr lang="tr-TR" sz="2000" noProof="0" dirty="0" err="1"/>
              <a:t>bias</a:t>
            </a:r>
            <a:r>
              <a:rPr lang="tr-TR" sz="2000" noProof="0" dirty="0"/>
              <a:t>) engellemek için, makroekonomik veriler ham haliyle değil, AR(1) otoregresif filtresinden geçirilerek </a:t>
            </a:r>
            <a:r>
              <a:rPr lang="tr-TR" sz="2000" b="1" noProof="0" dirty="0"/>
              <a:t>"saf sürpriz (inovasyon)"</a:t>
            </a:r>
            <a:r>
              <a:rPr lang="tr-TR" sz="2000" noProof="0" dirty="0"/>
              <a:t> olarak sisteme dahil edilmiştir.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endParaRPr lang="tr-TR" sz="2000" noProof="0" dirty="0"/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tr-TR" sz="2000" b="1" noProof="0" dirty="0"/>
              <a:t>Şokların Şiddet Ölçümü:</a:t>
            </a:r>
            <a:r>
              <a:rPr lang="tr-TR" sz="2000" noProof="0" dirty="0"/>
              <a:t> Volatilite ölçütü olarak, klasik koşullu varyans modellerinin (GARCH) makro şokları düzleştirme (</a:t>
            </a:r>
            <a:r>
              <a:rPr lang="tr-TR" sz="2000" noProof="0" dirty="0" err="1"/>
              <a:t>smoothing</a:t>
            </a:r>
            <a:r>
              <a:rPr lang="tr-TR" sz="2000" noProof="0" dirty="0"/>
              <a:t>) etkisinden kaçınmak adına, günlük dalgalanmayı doğrudan yansıtan Karesel Getiriler (Rt2​) tercih edilmiştir.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endParaRPr lang="tr-TR" sz="2000" noProof="0" dirty="0"/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tr-TR" sz="2000" b="1" noProof="0" dirty="0"/>
              <a:t>Nedensellik Hiyerarşisi (SVAR):</a:t>
            </a:r>
            <a:r>
              <a:rPr lang="tr-TR" sz="2000" noProof="0" dirty="0"/>
              <a:t> Şokların eşanlı geçişlerini ekonomik teoriye oturtmak için Yapısal Vektör </a:t>
            </a:r>
            <a:r>
              <a:rPr lang="tr-TR" sz="2000" noProof="0" dirty="0" err="1"/>
              <a:t>Otoregresyon</a:t>
            </a:r>
            <a:r>
              <a:rPr lang="tr-TR" sz="2000" noProof="0" dirty="0"/>
              <a:t> (SVAR) modelinde </a:t>
            </a:r>
            <a:r>
              <a:rPr lang="tr-TR" sz="2000" b="1" noProof="0" dirty="0" err="1"/>
              <a:t>Cholesky</a:t>
            </a:r>
            <a:r>
              <a:rPr lang="tr-TR" sz="2000" b="1" noProof="0" dirty="0"/>
              <a:t> Kısıtı</a:t>
            </a:r>
            <a:r>
              <a:rPr lang="tr-TR" sz="2000" noProof="0" dirty="0"/>
              <a:t> uygulanmıştır. (</a:t>
            </a:r>
            <a:r>
              <a:rPr lang="tr-TR" sz="2000" noProof="0" dirty="0" err="1"/>
              <a:t>Örn</a:t>
            </a:r>
            <a:r>
              <a:rPr lang="tr-TR" sz="2000" noProof="0" dirty="0"/>
              <a:t>: Sabah açıklanan makro verinin aynı gün borsayı etkileyebilmesi, ancak borsanın geçmiş makro veriyi değiştirememesi varsayımı).</a:t>
            </a:r>
          </a:p>
          <a:p>
            <a:pPr algn="ctr">
              <a:lnSpc>
                <a:spcPct val="150000"/>
              </a:lnSpc>
            </a:pPr>
            <a:r>
              <a:rPr kumimoji="0" lang="tr-TR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AMPİRİK BULGULAR: SEKTÖREL ASİMETRİ VE ETKİ-TEPKİ (IRF)</a:t>
            </a:r>
            <a:endParaRPr lang="tr-TR" sz="2000" noProof="0" dirty="0"/>
          </a:p>
          <a:p>
            <a:pPr algn="just"/>
            <a:endParaRPr lang="tr-TR" sz="2000" noProof="0" dirty="0"/>
          </a:p>
          <a:p>
            <a:pPr algn="just"/>
            <a:endParaRPr lang="tr-TR" sz="2000" noProof="0" dirty="0"/>
          </a:p>
          <a:p>
            <a:pPr algn="just"/>
            <a:endParaRPr lang="tr-TR" sz="2000" noProof="0" dirty="0"/>
          </a:p>
          <a:p>
            <a:pPr algn="just"/>
            <a:endParaRPr lang="tr-TR" sz="2000" noProof="0" dirty="0"/>
          </a:p>
          <a:p>
            <a:pPr algn="just"/>
            <a:endParaRPr lang="tr-TR" sz="2000" noProof="0" dirty="0"/>
          </a:p>
          <a:p>
            <a:pPr algn="just"/>
            <a:endParaRPr lang="tr-TR" sz="2000" noProof="0" dirty="0"/>
          </a:p>
          <a:p>
            <a:pPr algn="just"/>
            <a:endParaRPr lang="tr-TR" sz="2000" noProof="0" dirty="0"/>
          </a:p>
          <a:p>
            <a:pPr algn="just"/>
            <a:endParaRPr lang="tr-TR" sz="2000" noProof="0" dirty="0"/>
          </a:p>
          <a:p>
            <a:pPr algn="just"/>
            <a:endParaRPr lang="tr-TR" sz="2000" noProof="0" dirty="0"/>
          </a:p>
          <a:p>
            <a:pPr algn="just"/>
            <a:endParaRPr lang="tr-TR" sz="2000" noProof="0" dirty="0"/>
          </a:p>
          <a:p>
            <a:pPr algn="just"/>
            <a:endParaRPr lang="tr-TR" sz="2000" noProof="0" dirty="0"/>
          </a:p>
          <a:p>
            <a:pPr algn="just"/>
            <a:endParaRPr lang="tr-TR" sz="2000" noProof="0" dirty="0"/>
          </a:p>
          <a:p>
            <a:pPr algn="just"/>
            <a:endParaRPr lang="tr-TR" sz="2000" noProof="0" dirty="0"/>
          </a:p>
          <a:p>
            <a:pPr algn="just"/>
            <a:endParaRPr lang="tr-TR" sz="2000" noProof="0" dirty="0"/>
          </a:p>
          <a:p>
            <a:pPr algn="just"/>
            <a:endParaRPr lang="tr-TR" sz="2000" noProof="0" dirty="0"/>
          </a:p>
          <a:p>
            <a:pPr algn="just"/>
            <a:endParaRPr lang="tr-TR" sz="2000" noProof="0" dirty="0"/>
          </a:p>
          <a:p>
            <a:pPr algn="just"/>
            <a:endParaRPr lang="tr-TR" sz="2000" noProof="0" dirty="0"/>
          </a:p>
          <a:p>
            <a:pPr algn="just"/>
            <a:endParaRPr lang="tr-TR" sz="2000" noProof="0" dirty="0"/>
          </a:p>
          <a:p>
            <a:pPr algn="just"/>
            <a:endParaRPr lang="tr-TR" sz="2000" noProof="0" dirty="0"/>
          </a:p>
          <a:p>
            <a:pPr algn="just"/>
            <a:endParaRPr lang="tr-TR" sz="2000" noProof="0" dirty="0"/>
          </a:p>
          <a:p>
            <a:pPr algn="just"/>
            <a:endParaRPr lang="tr-TR" sz="2000" noProof="0" dirty="0"/>
          </a:p>
          <a:p>
            <a:pPr algn="just"/>
            <a:endParaRPr lang="tr-TR" sz="2000" noProof="0" dirty="0"/>
          </a:p>
          <a:p>
            <a:pPr algn="just"/>
            <a:endParaRPr lang="tr-TR" sz="2000" noProof="0" dirty="0"/>
          </a:p>
          <a:p>
            <a:pPr algn="just"/>
            <a:endParaRPr lang="tr-TR" sz="2000" noProof="0" dirty="0"/>
          </a:p>
          <a:p>
            <a:pPr algn="just"/>
            <a:endParaRPr lang="tr-TR" sz="2000" noProof="0" dirty="0"/>
          </a:p>
          <a:p>
            <a:pPr algn="just"/>
            <a:endParaRPr lang="tr-TR" sz="2000" noProof="0" dirty="0"/>
          </a:p>
          <a:p>
            <a:pPr algn="just"/>
            <a:endParaRPr lang="tr-TR" sz="2000" noProof="0" dirty="0"/>
          </a:p>
          <a:p>
            <a:pPr algn="just"/>
            <a:endParaRPr lang="tr-TR" sz="2000" noProof="0" dirty="0"/>
          </a:p>
          <a:p>
            <a:pPr algn="just"/>
            <a:endParaRPr lang="tr-TR" sz="2000" noProof="0" dirty="0"/>
          </a:p>
          <a:p>
            <a:pPr algn="just"/>
            <a:endParaRPr lang="tr-TR" sz="2000" noProof="0" dirty="0"/>
          </a:p>
          <a:p>
            <a:pPr algn="just"/>
            <a:endParaRPr lang="tr-TR" sz="2000" noProof="0" dirty="0"/>
          </a:p>
          <a:p>
            <a:pPr algn="just"/>
            <a:endParaRPr lang="tr-TR" sz="2000" noProof="0" dirty="0"/>
          </a:p>
          <a:p>
            <a:pPr algn="just"/>
            <a:r>
              <a:rPr lang="tr-TR" sz="2000" b="1" noProof="0" dirty="0"/>
              <a:t>Beklenti Kanalı Kanıtı</a:t>
            </a:r>
            <a:r>
              <a:rPr lang="tr-TR" sz="2000" noProof="0" dirty="0"/>
              <a:t>: Büyüme hisseleri (Teknoloji) enflasyona değil </a:t>
            </a:r>
            <a:r>
              <a:rPr lang="tr-TR" sz="2000" noProof="0" dirty="0" err="1"/>
              <a:t>Fed'in</a:t>
            </a:r>
            <a:r>
              <a:rPr lang="tr-TR" sz="2000" noProof="0" dirty="0"/>
              <a:t> faiz tepkisine duyarlıyken; bilançoları nakit ve krediye dayalı Finans sektörü doğrudan enflasyon şoklarına maruz kalmaktadır</a:t>
            </a:r>
          </a:p>
          <a:p>
            <a:pPr algn="just"/>
            <a:endParaRPr lang="en-US" sz="2000" noProof="0" dirty="0"/>
          </a:p>
          <a:p>
            <a:pPr algn="just"/>
            <a:endParaRPr lang="en-US" sz="2000" noProof="0" dirty="0"/>
          </a:p>
          <a:p>
            <a:pPr algn="just"/>
            <a:endParaRPr lang="en-US" sz="2000" dirty="0"/>
          </a:p>
          <a:p>
            <a:pPr algn="just"/>
            <a:endParaRPr lang="en-US" sz="2000" noProof="0" dirty="0"/>
          </a:p>
          <a:p>
            <a:pPr algn="just"/>
            <a:endParaRPr lang="en-US" sz="2000" dirty="0"/>
          </a:p>
          <a:p>
            <a:pPr algn="just"/>
            <a:endParaRPr lang="en-US" sz="2000" noProof="0" dirty="0"/>
          </a:p>
          <a:p>
            <a:pPr algn="just"/>
            <a:endParaRPr lang="en-US" sz="2000" dirty="0"/>
          </a:p>
          <a:p>
            <a:pPr algn="just"/>
            <a:endParaRPr lang="en-US" sz="2000" noProof="0" dirty="0"/>
          </a:p>
          <a:p>
            <a:pPr algn="just"/>
            <a:endParaRPr lang="tr-TR" sz="2000" noProof="0" dirty="0"/>
          </a:p>
        </p:txBody>
      </p:sp>
      <p:sp>
        <p:nvSpPr>
          <p:cNvPr id="17" name="Metin kutusu 16">
            <a:extLst>
              <a:ext uri="{FF2B5EF4-FFF2-40B4-BE49-F238E27FC236}">
                <a16:creationId xmlns:a16="http://schemas.microsoft.com/office/drawing/2014/main" id="{72C214B3-9789-BD17-28D3-FB71F5F5BA9C}"/>
              </a:ext>
            </a:extLst>
          </p:cNvPr>
          <p:cNvSpPr txBox="1"/>
          <p:nvPr/>
        </p:nvSpPr>
        <p:spPr>
          <a:xfrm>
            <a:off x="12921785" y="7741444"/>
            <a:ext cx="11564085" cy="19924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180000" tIns="36000" rIns="180000" bIns="36000" rtlCol="0">
            <a:spAutoFit/>
          </a:bodyPr>
          <a:lstStyle/>
          <a:p>
            <a:pPr algn="just"/>
            <a:endParaRPr lang="tr-TR" sz="2000" noProof="0" dirty="0"/>
          </a:p>
          <a:p>
            <a:pPr algn="just"/>
            <a:endParaRPr lang="en-US" sz="2000" b="1" noProof="0" dirty="0"/>
          </a:p>
          <a:p>
            <a:pPr algn="just"/>
            <a:endParaRPr lang="en-US" sz="2000" b="1" dirty="0"/>
          </a:p>
          <a:p>
            <a:pPr algn="just"/>
            <a:endParaRPr lang="en-US" sz="2000" b="1" noProof="0" dirty="0"/>
          </a:p>
          <a:p>
            <a:pPr algn="just"/>
            <a:endParaRPr lang="en-US" sz="2000" b="1" dirty="0"/>
          </a:p>
          <a:p>
            <a:pPr algn="just"/>
            <a:endParaRPr lang="en-US" sz="2000" b="1" dirty="0"/>
          </a:p>
          <a:p>
            <a:pPr algn="just"/>
            <a:endParaRPr lang="en-US" sz="2000" b="1" dirty="0"/>
          </a:p>
          <a:p>
            <a:pPr algn="just"/>
            <a:endParaRPr lang="en-US" sz="2000" b="1" dirty="0"/>
          </a:p>
          <a:p>
            <a:pPr algn="just"/>
            <a:endParaRPr lang="en-US" sz="2000" b="1" noProof="0" dirty="0"/>
          </a:p>
          <a:p>
            <a:pPr algn="just"/>
            <a:endParaRPr lang="en-US" sz="2000" b="1" dirty="0"/>
          </a:p>
          <a:p>
            <a:pPr algn="just"/>
            <a:endParaRPr lang="en-US" sz="2000" b="1" dirty="0"/>
          </a:p>
          <a:p>
            <a:pPr algn="just"/>
            <a:r>
              <a:rPr lang="tr-TR" sz="2000" b="1" noProof="0" dirty="0"/>
              <a:t>Ticaret Şoklarının Gecikmeli Fiyatlanması</a:t>
            </a:r>
            <a:r>
              <a:rPr lang="tr-TR" sz="2000" noProof="0" dirty="0"/>
              <a:t>: Küresel ticaret dengesinde (</a:t>
            </a:r>
            <a:r>
              <a:rPr lang="tr-TR" sz="2000" noProof="0" dirty="0" err="1"/>
              <a:t>Trade</a:t>
            </a:r>
            <a:r>
              <a:rPr lang="tr-TR" sz="2000" noProof="0" dirty="0"/>
              <a:t> </a:t>
            </a:r>
            <a:r>
              <a:rPr lang="tr-TR" sz="2000" noProof="0" dirty="0" err="1"/>
              <a:t>Balance</a:t>
            </a:r>
            <a:r>
              <a:rPr lang="tr-TR" sz="2000" noProof="0" dirty="0"/>
              <a:t>) yaşanan şokların piyasaya anında nüfuz etmediği görülmüştür. Bankacılık ve kredi hacmine dayalı Finans (XLF) sektörünün bilançolarında dış ticaret şoklarının fiyatlanıp piyasa volatilitesine dönüşmesinin yaklaşık iki hafta (8-9 işlem günü) sürdüğü kanıtlanmıştır.</a:t>
            </a:r>
          </a:p>
          <a:p>
            <a:pPr algn="just"/>
            <a:endParaRPr lang="tr-TR" sz="2000" noProof="0" dirty="0"/>
          </a:p>
          <a:p>
            <a:pPr algn="just"/>
            <a:endParaRPr lang="tr-TR" sz="2000" noProof="0" dirty="0"/>
          </a:p>
          <a:p>
            <a:pPr algn="just"/>
            <a:endParaRPr lang="tr-TR" sz="2000" noProof="0" dirty="0"/>
          </a:p>
          <a:p>
            <a:pPr algn="just"/>
            <a:endParaRPr lang="tr-TR" sz="2000" noProof="0" dirty="0"/>
          </a:p>
          <a:p>
            <a:pPr algn="just"/>
            <a:endParaRPr lang="tr-TR" sz="2000" noProof="0" dirty="0"/>
          </a:p>
          <a:p>
            <a:pPr algn="just"/>
            <a:endParaRPr lang="tr-TR" sz="2000" noProof="0" dirty="0"/>
          </a:p>
          <a:p>
            <a:pPr algn="just"/>
            <a:endParaRPr lang="tr-TR" sz="2000" noProof="0" dirty="0"/>
          </a:p>
          <a:p>
            <a:pPr algn="just"/>
            <a:endParaRPr lang="tr-TR" sz="2000" noProof="0" dirty="0"/>
          </a:p>
          <a:p>
            <a:pPr algn="just"/>
            <a:endParaRPr lang="tr-TR" sz="2000" noProof="0" dirty="0"/>
          </a:p>
          <a:p>
            <a:pPr algn="just"/>
            <a:endParaRPr lang="tr-TR" sz="2000" noProof="0" dirty="0"/>
          </a:p>
          <a:p>
            <a:pPr algn="just"/>
            <a:endParaRPr lang="tr-TR" sz="2000" noProof="0" dirty="0"/>
          </a:p>
          <a:p>
            <a:pPr algn="just"/>
            <a:endParaRPr lang="tr-TR" sz="2000" noProof="0" dirty="0"/>
          </a:p>
          <a:p>
            <a:pPr algn="just"/>
            <a:endParaRPr lang="tr-TR" sz="2000" noProof="0" dirty="0"/>
          </a:p>
          <a:p>
            <a:pPr algn="just"/>
            <a:endParaRPr lang="tr-TR" sz="2000" noProof="0" dirty="0"/>
          </a:p>
          <a:p>
            <a:pPr algn="just"/>
            <a:endParaRPr lang="tr-TR" sz="2000" noProof="0" dirty="0"/>
          </a:p>
          <a:p>
            <a:pPr algn="just"/>
            <a:endParaRPr lang="tr-TR" sz="2000" noProof="0" dirty="0"/>
          </a:p>
          <a:p>
            <a:pPr algn="just"/>
            <a:endParaRPr lang="tr-TR" sz="2000" noProof="0" dirty="0"/>
          </a:p>
          <a:p>
            <a:pPr algn="just"/>
            <a:endParaRPr lang="tr-TR" sz="2000" noProof="0" dirty="0"/>
          </a:p>
          <a:p>
            <a:pPr algn="just"/>
            <a:endParaRPr lang="tr-TR" sz="2000" noProof="0" dirty="0"/>
          </a:p>
          <a:p>
            <a:pPr algn="just"/>
            <a:endParaRPr lang="tr-TR" sz="2000" noProof="0" dirty="0"/>
          </a:p>
          <a:p>
            <a:pPr algn="just"/>
            <a:endParaRPr lang="tr-TR" sz="2000" noProof="0" dirty="0"/>
          </a:p>
          <a:p>
            <a:pPr algn="just"/>
            <a:endParaRPr lang="tr-TR" sz="2000" noProof="0" dirty="0"/>
          </a:p>
          <a:p>
            <a:pPr algn="just"/>
            <a:endParaRPr lang="tr-TR" sz="2000" noProof="0" dirty="0"/>
          </a:p>
          <a:p>
            <a:pPr algn="just"/>
            <a:endParaRPr lang="tr-TR" sz="2000" noProof="0" dirty="0"/>
          </a:p>
          <a:p>
            <a:pPr algn="just"/>
            <a:endParaRPr lang="tr-TR" sz="2000" noProof="0" dirty="0"/>
          </a:p>
          <a:p>
            <a:pPr algn="just"/>
            <a:endParaRPr lang="tr-TR" sz="2000" noProof="0" dirty="0"/>
          </a:p>
          <a:p>
            <a:pPr algn="just"/>
            <a:endParaRPr lang="tr-TR" sz="2000" noProof="0" dirty="0"/>
          </a:p>
          <a:p>
            <a:pPr algn="just"/>
            <a:endParaRPr lang="tr-TR" sz="2000" noProof="0" dirty="0"/>
          </a:p>
          <a:p>
            <a:pPr algn="just"/>
            <a:endParaRPr lang="en-US" sz="2000" noProof="0" dirty="0"/>
          </a:p>
          <a:p>
            <a:pPr algn="just"/>
            <a:endParaRPr lang="tr-TR" sz="2000" noProof="0" dirty="0"/>
          </a:p>
          <a:p>
            <a:pPr algn="just"/>
            <a:endParaRPr lang="en-US" sz="2000" noProof="0" dirty="0"/>
          </a:p>
          <a:p>
            <a:pPr algn="just"/>
            <a:endParaRPr lang="en-US" sz="2000" b="1" dirty="0"/>
          </a:p>
          <a:p>
            <a:pPr algn="just"/>
            <a:endParaRPr lang="en-US" sz="2000" b="1" dirty="0"/>
          </a:p>
          <a:p>
            <a:pPr algn="just"/>
            <a:endParaRPr lang="en-US" sz="2000" b="1" noProof="0" dirty="0"/>
          </a:p>
          <a:p>
            <a:pPr algn="just"/>
            <a:r>
              <a:rPr lang="tr-TR" sz="2000" b="1" noProof="0" dirty="0"/>
              <a:t>Öncü Verilerin (İstihdam/Tüketim) Gücü: </a:t>
            </a:r>
            <a:r>
              <a:rPr lang="tr-TR" sz="2000" noProof="0" dirty="0"/>
              <a:t>Makro döngülere karşı son derece duyarlı olan Enerji (XLE) sektörünün; resesyon veya daralma fiyatlamalarını, resmi gecikmeli işsizlik verilerinden çok daha önce, Tarım Dışı İstihdam (NFP) ve Perakende Satışlar üzerinden anında gerçekleştirdiği gözlemlenmiştir.</a:t>
            </a:r>
          </a:p>
          <a:p>
            <a:pPr algn="ctr"/>
            <a:r>
              <a:rPr lang="tr-TR" sz="3000" b="1" noProof="0" dirty="0"/>
              <a:t>SONUÇ VE  ÇIKARIMLAR</a:t>
            </a:r>
          </a:p>
          <a:p>
            <a:pPr algn="just"/>
            <a:r>
              <a:rPr lang="tr-TR" sz="2000" b="1" noProof="0" dirty="0"/>
              <a:t>Sektörel Ayrışma Gerçektir:</a:t>
            </a:r>
            <a:r>
              <a:rPr lang="tr-TR" sz="2000" noProof="0" dirty="0"/>
              <a:t> Makroekonomik şokların etkisi homojen değildir. Tek bir borsa endeksi üzerinden risk analizi yapmak, alt sektörlerdeki asimetrik oynaklıkları (</a:t>
            </a:r>
            <a:r>
              <a:rPr lang="tr-TR" sz="2000" noProof="0" dirty="0" err="1"/>
              <a:t>volatility</a:t>
            </a:r>
            <a:r>
              <a:rPr lang="tr-TR" sz="2000" noProof="0" dirty="0"/>
              <a:t>) gizlemektedir. </a:t>
            </a:r>
          </a:p>
          <a:p>
            <a:pPr algn="just"/>
            <a:endParaRPr lang="tr-TR" sz="2000" noProof="0" dirty="0"/>
          </a:p>
          <a:p>
            <a:pPr algn="just"/>
            <a:r>
              <a:rPr lang="tr-TR" sz="2000" b="1" noProof="0" dirty="0"/>
              <a:t>Bilgiyi Sindirme (</a:t>
            </a:r>
            <a:r>
              <a:rPr lang="tr-TR" sz="2000" b="1" noProof="0" dirty="0" err="1"/>
              <a:t>Digestion</a:t>
            </a:r>
            <a:r>
              <a:rPr lang="tr-TR" sz="2000" b="1" noProof="0" dirty="0"/>
              <a:t>) Farklılıkları:</a:t>
            </a:r>
            <a:r>
              <a:rPr lang="tr-TR" sz="2000" noProof="0" dirty="0"/>
              <a:t> Her endüstrinin şoku fiyatlama süresi farklıdır. Enerji sektörü istihdam verisini (NFP) anında fiyatlarken, Finans sektörünün dış ticaret şoklarını sindirmesi 8-9 işlem günü sürmektedir</a:t>
            </a:r>
          </a:p>
          <a:p>
            <a:pPr algn="just"/>
            <a:endParaRPr lang="tr-TR" sz="2000" noProof="0" dirty="0"/>
          </a:p>
          <a:p>
            <a:pPr algn="just"/>
            <a:r>
              <a:rPr lang="tr-TR" sz="2000" b="1" noProof="0" dirty="0"/>
              <a:t>SVAR Modelinin Gücü:</a:t>
            </a:r>
            <a:r>
              <a:rPr lang="tr-TR" sz="2000" noProof="0" dirty="0"/>
              <a:t> Standart modellere kıyasla, veriyi AR(1) sürprizlerine dönüştürmek ve </a:t>
            </a:r>
            <a:r>
              <a:rPr lang="tr-TR" sz="2000" noProof="0" dirty="0" err="1"/>
              <a:t>Cholesky</a:t>
            </a:r>
            <a:r>
              <a:rPr lang="tr-TR" sz="2000" noProof="0" dirty="0"/>
              <a:t> sıralaması uygulamak; bilgi sızıntısını engellemiş ve piyasa mikro-dinamiklerini şeffaf bir şekilde ortaya koymuştur.</a:t>
            </a:r>
          </a:p>
        </p:txBody>
      </p:sp>
      <p:sp>
        <p:nvSpPr>
          <p:cNvPr id="22" name="Metin kutusu 21">
            <a:extLst>
              <a:ext uri="{FF2B5EF4-FFF2-40B4-BE49-F238E27FC236}">
                <a16:creationId xmlns:a16="http://schemas.microsoft.com/office/drawing/2014/main" id="{DE9B18E1-AF93-E851-13A0-3FFD1353BAA9}"/>
              </a:ext>
            </a:extLst>
          </p:cNvPr>
          <p:cNvSpPr txBox="1"/>
          <p:nvPr/>
        </p:nvSpPr>
        <p:spPr>
          <a:xfrm>
            <a:off x="12885245" y="29306044"/>
            <a:ext cx="11586246" cy="230408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180000" tIns="36000" rIns="180000" bIns="3600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tr-TR" sz="3000" b="1" noProof="0" dirty="0"/>
              <a:t>KAYNAKÇA</a:t>
            </a:r>
          </a:p>
          <a:p>
            <a:pPr algn="just"/>
            <a:r>
              <a:rPr lang="tr-TR" sz="2000" noProof="0" dirty="0"/>
              <a:t>[1] Andersen, T. G., vd. (2003). "Micro </a:t>
            </a:r>
            <a:r>
              <a:rPr lang="tr-TR" sz="2000" noProof="0" dirty="0" err="1"/>
              <a:t>Effects</a:t>
            </a:r>
            <a:r>
              <a:rPr lang="tr-TR" sz="2000" noProof="0" dirty="0"/>
              <a:t> of Macro </a:t>
            </a:r>
            <a:r>
              <a:rPr lang="tr-TR" sz="2000" noProof="0" dirty="0" err="1"/>
              <a:t>Announcements</a:t>
            </a:r>
            <a:r>
              <a:rPr lang="tr-TR" sz="2000" noProof="0" dirty="0"/>
              <a:t>: Real-Time </a:t>
            </a:r>
            <a:r>
              <a:rPr lang="tr-TR" sz="2000" noProof="0" dirty="0" err="1"/>
              <a:t>Price</a:t>
            </a:r>
            <a:r>
              <a:rPr lang="tr-TR" sz="2000" noProof="0" dirty="0"/>
              <a:t> </a:t>
            </a:r>
            <a:r>
              <a:rPr lang="tr-TR" sz="2000" noProof="0" dirty="0" err="1"/>
              <a:t>Discovery</a:t>
            </a:r>
            <a:r>
              <a:rPr lang="tr-TR" sz="2000" noProof="0" dirty="0"/>
              <a:t> in </a:t>
            </a:r>
            <a:r>
              <a:rPr lang="tr-TR" sz="2000" noProof="0" dirty="0" err="1"/>
              <a:t>Foreign</a:t>
            </a:r>
            <a:r>
              <a:rPr lang="tr-TR" sz="2000" noProof="0" dirty="0"/>
              <a:t> Exchange", </a:t>
            </a:r>
            <a:r>
              <a:rPr lang="tr-TR" sz="2000" i="1" noProof="0" dirty="0" err="1"/>
              <a:t>American</a:t>
            </a:r>
            <a:r>
              <a:rPr lang="tr-TR" sz="2000" i="1" noProof="0" dirty="0"/>
              <a:t> </a:t>
            </a:r>
            <a:r>
              <a:rPr lang="tr-TR" sz="2000" i="1" noProof="0" dirty="0" err="1"/>
              <a:t>Economic</a:t>
            </a:r>
            <a:r>
              <a:rPr lang="tr-TR" sz="2000" i="1" noProof="0" dirty="0"/>
              <a:t> </a:t>
            </a:r>
            <a:r>
              <a:rPr lang="tr-TR" sz="2000" i="1" noProof="0" dirty="0" err="1"/>
              <a:t>Review</a:t>
            </a:r>
            <a:r>
              <a:rPr lang="tr-TR" sz="2000" noProof="0" dirty="0"/>
              <a:t>, 93(1), 38-62.</a:t>
            </a:r>
          </a:p>
          <a:p>
            <a:pPr algn="just"/>
            <a:r>
              <a:rPr lang="tr-TR" sz="2000" noProof="0" dirty="0"/>
              <a:t>[2] </a:t>
            </a:r>
            <a:r>
              <a:rPr lang="tr-TR" sz="2000" noProof="0" dirty="0" err="1"/>
              <a:t>Bernanke</a:t>
            </a:r>
            <a:r>
              <a:rPr lang="tr-TR" sz="2000" noProof="0" dirty="0"/>
              <a:t>, B. S., &amp; </a:t>
            </a:r>
            <a:r>
              <a:rPr lang="tr-TR" sz="2000" noProof="0" dirty="0" err="1"/>
              <a:t>Kuttner</a:t>
            </a:r>
            <a:r>
              <a:rPr lang="tr-TR" sz="2000" noProof="0" dirty="0"/>
              <a:t>, K. N. (2005). "</a:t>
            </a:r>
            <a:r>
              <a:rPr lang="tr-TR" sz="2000" noProof="0" dirty="0" err="1"/>
              <a:t>What</a:t>
            </a:r>
            <a:r>
              <a:rPr lang="tr-TR" sz="2000" noProof="0" dirty="0"/>
              <a:t> </a:t>
            </a:r>
            <a:r>
              <a:rPr lang="tr-TR" sz="2000" noProof="0" dirty="0" err="1"/>
              <a:t>Explains</a:t>
            </a:r>
            <a:r>
              <a:rPr lang="tr-TR" sz="2000" noProof="0" dirty="0"/>
              <a:t> </a:t>
            </a:r>
            <a:r>
              <a:rPr lang="tr-TR" sz="2000" noProof="0" dirty="0" err="1"/>
              <a:t>the</a:t>
            </a:r>
            <a:r>
              <a:rPr lang="tr-TR" sz="2000" noProof="0" dirty="0"/>
              <a:t> </a:t>
            </a:r>
            <a:r>
              <a:rPr lang="tr-TR" sz="2000" noProof="0" dirty="0" err="1"/>
              <a:t>Stock</a:t>
            </a:r>
            <a:r>
              <a:rPr lang="tr-TR" sz="2000" noProof="0" dirty="0"/>
              <a:t> </a:t>
            </a:r>
            <a:r>
              <a:rPr lang="tr-TR" sz="2000" noProof="0" dirty="0" err="1"/>
              <a:t>Market's</a:t>
            </a:r>
            <a:r>
              <a:rPr lang="tr-TR" sz="2000" noProof="0" dirty="0"/>
              <a:t> </a:t>
            </a:r>
            <a:r>
              <a:rPr lang="tr-TR" sz="2000" noProof="0" dirty="0" err="1"/>
              <a:t>Reaction</a:t>
            </a:r>
            <a:r>
              <a:rPr lang="tr-TR" sz="2000" noProof="0" dirty="0"/>
              <a:t> </a:t>
            </a:r>
            <a:r>
              <a:rPr lang="tr-TR" sz="2000" noProof="0" dirty="0" err="1"/>
              <a:t>to</a:t>
            </a:r>
            <a:r>
              <a:rPr lang="tr-TR" sz="2000" noProof="0" dirty="0"/>
              <a:t> Federal </a:t>
            </a:r>
            <a:r>
              <a:rPr lang="tr-TR" sz="2000" noProof="0" dirty="0" err="1"/>
              <a:t>Reserve</a:t>
            </a:r>
            <a:r>
              <a:rPr lang="tr-TR" sz="2000" noProof="0" dirty="0"/>
              <a:t> </a:t>
            </a:r>
            <a:r>
              <a:rPr lang="tr-TR" sz="2000" noProof="0" dirty="0" err="1"/>
              <a:t>Policy</a:t>
            </a:r>
            <a:r>
              <a:rPr lang="tr-TR" sz="2000" noProof="0" dirty="0"/>
              <a:t>?", </a:t>
            </a:r>
            <a:r>
              <a:rPr lang="tr-TR" sz="2000" i="1" noProof="0" dirty="0" err="1"/>
              <a:t>The</a:t>
            </a:r>
            <a:r>
              <a:rPr lang="tr-TR" sz="2000" i="1" noProof="0" dirty="0"/>
              <a:t> </a:t>
            </a:r>
            <a:r>
              <a:rPr lang="tr-TR" sz="2000" i="1" noProof="0" dirty="0" err="1"/>
              <a:t>Journal</a:t>
            </a:r>
            <a:r>
              <a:rPr lang="tr-TR" sz="2000" i="1" noProof="0" dirty="0"/>
              <a:t> of Finance</a:t>
            </a:r>
            <a:r>
              <a:rPr lang="tr-TR" sz="2000" noProof="0" dirty="0"/>
              <a:t>, 60(3), 1221-1257.</a:t>
            </a:r>
          </a:p>
          <a:p>
            <a:pPr algn="just"/>
            <a:r>
              <a:rPr lang="tr-TR" sz="2000" noProof="0" dirty="0"/>
              <a:t>[3] </a:t>
            </a:r>
            <a:r>
              <a:rPr lang="tr-TR" sz="2000" noProof="0" dirty="0" err="1"/>
              <a:t>Sims</a:t>
            </a:r>
            <a:r>
              <a:rPr lang="tr-TR" sz="2000" noProof="0" dirty="0"/>
              <a:t>, C. A. (1980). "</a:t>
            </a:r>
            <a:r>
              <a:rPr lang="tr-TR" sz="2000" noProof="0" dirty="0" err="1"/>
              <a:t>Macroeconomics</a:t>
            </a:r>
            <a:r>
              <a:rPr lang="tr-TR" sz="2000" noProof="0" dirty="0"/>
              <a:t> </a:t>
            </a:r>
            <a:r>
              <a:rPr lang="tr-TR" sz="2000" noProof="0" dirty="0" err="1"/>
              <a:t>and</a:t>
            </a:r>
            <a:r>
              <a:rPr lang="tr-TR" sz="2000" noProof="0" dirty="0"/>
              <a:t> </a:t>
            </a:r>
            <a:r>
              <a:rPr lang="tr-TR" sz="2000" noProof="0" dirty="0" err="1"/>
              <a:t>Reality</a:t>
            </a:r>
            <a:r>
              <a:rPr lang="tr-TR" sz="2000" noProof="0" dirty="0"/>
              <a:t>", </a:t>
            </a:r>
            <a:r>
              <a:rPr lang="tr-TR" sz="2000" i="1" noProof="0" dirty="0" err="1"/>
              <a:t>Econometrica</a:t>
            </a:r>
            <a:r>
              <a:rPr lang="tr-TR" sz="2000" noProof="0" dirty="0"/>
              <a:t>, 48(1), 1-48.</a:t>
            </a:r>
          </a:p>
        </p:txBody>
      </p:sp>
      <p:sp>
        <p:nvSpPr>
          <p:cNvPr id="11" name="Dikdörtgen 10"/>
          <p:cNvSpPr/>
          <p:nvPr/>
        </p:nvSpPr>
        <p:spPr>
          <a:xfrm>
            <a:off x="5543508" y="2446331"/>
            <a:ext cx="14981279" cy="3151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tr-TR" sz="5500" b="1" noProof="0" dirty="0">
                <a:solidFill>
                  <a:schemeClr val="accent1">
                    <a:lumMod val="50000"/>
                  </a:schemeClr>
                </a:solidFill>
              </a:rPr>
              <a:t>2025.-2026. BAHARYARIYILIİSTATİSTİK BÖLÜMÜ</a:t>
            </a:r>
          </a:p>
          <a:p>
            <a:pPr algn="ctr">
              <a:lnSpc>
                <a:spcPct val="150000"/>
              </a:lnSpc>
            </a:pPr>
            <a:r>
              <a:rPr lang="tr-TR" sz="3200" b="1" noProof="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SEKTÖREL VOLATİLİTEDE MAKROEKONOMİK ŞOKLARIN İZİ</a:t>
            </a:r>
          </a:p>
          <a:p>
            <a:pPr algn="ctr">
              <a:lnSpc>
                <a:spcPct val="150000"/>
              </a:lnSpc>
            </a:pPr>
            <a:r>
              <a:rPr lang="tr-TR" sz="2400" b="1" noProof="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Burak BAYRAM – 22023006</a:t>
            </a:r>
          </a:p>
          <a:p>
            <a:pPr algn="ctr">
              <a:lnSpc>
                <a:spcPct val="150000"/>
              </a:lnSpc>
            </a:pPr>
            <a:r>
              <a:rPr lang="tr-TR" sz="2400" b="1" noProof="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Danışman: Doç. Dr. </a:t>
            </a:r>
            <a:r>
              <a:rPr lang="tr-TR" sz="2400" b="1" noProof="0" dirty="0" err="1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Gülder</a:t>
            </a:r>
            <a:r>
              <a:rPr lang="tr-TR" sz="2400" b="1" noProof="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KEMALBAY</a:t>
            </a:r>
          </a:p>
        </p:txBody>
      </p:sp>
      <p:pic>
        <p:nvPicPr>
          <p:cNvPr id="3" name="Resi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984" y="591573"/>
            <a:ext cx="14981279" cy="213781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E89EC30-C287-98C6-BAFF-D13844F9A3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6949" y="21390324"/>
            <a:ext cx="10058399" cy="317226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275950A-BE77-CA44-AF3A-CF1F16AD6E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6948" y="28696444"/>
            <a:ext cx="10058399" cy="218152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4DC58CE-9EA2-55C0-0926-F3A762C807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606510" y="7843838"/>
            <a:ext cx="10058399" cy="311511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A2F2296-DDB3-C413-E6AD-C5D44ED9949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666788" y="12313444"/>
            <a:ext cx="10058399" cy="360896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9070EF0-4F8B-966D-EDFB-456EDF31F3C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666788" y="15922408"/>
            <a:ext cx="10058399" cy="340425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0474C0A-41A7-4550-94DE-91C45583D2E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666788" y="19326660"/>
            <a:ext cx="10058399" cy="340425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B96A750-29D6-9C30-21AD-7F30C787D4D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17879" y="18167826"/>
            <a:ext cx="10058399" cy="29722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6981A9C-6A71-79F4-517B-37033DC6E87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66950" y="24743124"/>
            <a:ext cx="10058398" cy="319132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2ED0258-B546-80DB-35DB-00A09B3C5C5B}"/>
              </a:ext>
            </a:extLst>
          </p:cNvPr>
          <p:cNvSpPr txBox="1"/>
          <p:nvPr/>
        </p:nvSpPr>
        <p:spPr>
          <a:xfrm>
            <a:off x="12907406" y="27934443"/>
            <a:ext cx="1156408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 err="1"/>
              <a:t>Notlar</a:t>
            </a:r>
            <a:r>
              <a:rPr lang="en-US" b="1" i="1" dirty="0"/>
              <a:t>:</a:t>
            </a:r>
            <a:r>
              <a:rPr lang="en-US" dirty="0"/>
              <a:t> </a:t>
            </a:r>
          </a:p>
          <a:p>
            <a:r>
              <a:rPr lang="en-US" dirty="0"/>
              <a:t>*- </a:t>
            </a:r>
            <a:r>
              <a:rPr lang="en-US" dirty="0" err="1"/>
              <a:t>Tablolardaki</a:t>
            </a:r>
            <a:r>
              <a:rPr lang="en-US" dirty="0"/>
              <a:t> ***</a:t>
            </a:r>
            <a:r>
              <a:rPr lang="en-US" i="1" dirty="0"/>
              <a:t>, ** </a:t>
            </a:r>
            <a:r>
              <a:rPr lang="en-US" i="1" dirty="0" err="1"/>
              <a:t>ve</a:t>
            </a:r>
            <a:r>
              <a:rPr lang="en-US" i="1" dirty="0"/>
              <a:t> * </a:t>
            </a:r>
            <a:r>
              <a:rPr lang="en-US" i="1" dirty="0" err="1"/>
              <a:t>sembolleri</a:t>
            </a:r>
            <a:r>
              <a:rPr lang="en-US" i="1" dirty="0"/>
              <a:t> </a:t>
            </a:r>
            <a:r>
              <a:rPr lang="en-US" i="1" dirty="0" err="1"/>
              <a:t>sırasıyla</a:t>
            </a:r>
            <a:r>
              <a:rPr lang="en-US" i="1" dirty="0"/>
              <a:t> %1, %5 </a:t>
            </a:r>
            <a:r>
              <a:rPr lang="en-US" i="1" dirty="0" err="1"/>
              <a:t>ve</a:t>
            </a:r>
            <a:r>
              <a:rPr lang="en-US" i="1" dirty="0"/>
              <a:t> %10 </a:t>
            </a:r>
            <a:r>
              <a:rPr lang="en-US" i="1" dirty="0" err="1"/>
              <a:t>istatistiksel</a:t>
            </a:r>
            <a:r>
              <a:rPr lang="en-US" i="1" dirty="0"/>
              <a:t> </a:t>
            </a:r>
            <a:r>
              <a:rPr lang="en-US" i="1" dirty="0" err="1"/>
              <a:t>anlamlılık</a:t>
            </a:r>
            <a:r>
              <a:rPr lang="en-US" i="1" dirty="0"/>
              <a:t> </a:t>
            </a:r>
            <a:r>
              <a:rPr lang="en-US" i="1" dirty="0" err="1"/>
              <a:t>düzeylerini</a:t>
            </a:r>
            <a:r>
              <a:rPr lang="en-US" i="1" dirty="0"/>
              <a:t> </a:t>
            </a:r>
            <a:r>
              <a:rPr lang="en-US" i="1" dirty="0" err="1"/>
              <a:t>göstermektedir</a:t>
            </a:r>
            <a:r>
              <a:rPr lang="en-US" i="1" dirty="0"/>
              <a:t>.</a:t>
            </a:r>
            <a:r>
              <a:rPr lang="en-US" dirty="0"/>
              <a:t> </a:t>
            </a:r>
          </a:p>
          <a:p>
            <a:endParaRPr lang="en-US" i="1" dirty="0"/>
          </a:p>
          <a:p>
            <a:r>
              <a:rPr lang="en-US" i="1" dirty="0"/>
              <a:t>- </a:t>
            </a:r>
            <a:r>
              <a:rPr lang="en-US" i="1" dirty="0" err="1"/>
              <a:t>Etki-Tepki</a:t>
            </a:r>
            <a:r>
              <a:rPr lang="en-US" i="1" dirty="0"/>
              <a:t> (IRF) </a:t>
            </a:r>
            <a:r>
              <a:rPr lang="en-US" i="1" dirty="0" err="1"/>
              <a:t>grafiklerindeki</a:t>
            </a:r>
            <a:r>
              <a:rPr lang="en-US" i="1" dirty="0"/>
              <a:t> </a:t>
            </a:r>
            <a:r>
              <a:rPr lang="en-US" i="1" dirty="0" err="1"/>
              <a:t>kesikli</a:t>
            </a:r>
            <a:r>
              <a:rPr lang="en-US" i="1" dirty="0"/>
              <a:t> </a:t>
            </a:r>
            <a:r>
              <a:rPr lang="en-US" i="1" dirty="0" err="1"/>
              <a:t>çizgiler</a:t>
            </a:r>
            <a:r>
              <a:rPr lang="en-US" i="1" dirty="0"/>
              <a:t> %95 </a:t>
            </a:r>
            <a:r>
              <a:rPr lang="en-US" i="1" dirty="0" err="1"/>
              <a:t>güven</a:t>
            </a:r>
            <a:r>
              <a:rPr lang="en-US" i="1" dirty="0"/>
              <a:t> </a:t>
            </a:r>
            <a:r>
              <a:rPr lang="en-US" i="1" dirty="0" err="1"/>
              <a:t>aralığını</a:t>
            </a:r>
            <a:r>
              <a:rPr lang="en-US" i="1" dirty="0"/>
              <a:t> (%5 </a:t>
            </a:r>
            <a:r>
              <a:rPr lang="en-US" i="1" dirty="0" err="1"/>
              <a:t>hata</a:t>
            </a:r>
            <a:r>
              <a:rPr lang="en-US" i="1" dirty="0"/>
              <a:t> </a:t>
            </a:r>
            <a:r>
              <a:rPr lang="en-US" i="1" dirty="0" err="1"/>
              <a:t>payı</a:t>
            </a:r>
            <a:r>
              <a:rPr lang="en-US" i="1" dirty="0"/>
              <a:t>) </a:t>
            </a:r>
            <a:r>
              <a:rPr lang="en-US" i="1" dirty="0" err="1"/>
              <a:t>temsil</a:t>
            </a:r>
            <a:r>
              <a:rPr lang="en-US" i="1" dirty="0"/>
              <a:t> </a:t>
            </a:r>
            <a:r>
              <a:rPr lang="en-US" i="1" dirty="0" err="1"/>
              <a:t>etmektedir</a:t>
            </a:r>
            <a:r>
              <a:rPr lang="en-US" i="1" dirty="0"/>
              <a:t>.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3485</TotalTime>
  <Words>739</Words>
  <Application>Microsoft Office PowerPoint</Application>
  <PresentationFormat>Custom</PresentationFormat>
  <Paragraphs>124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Teması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 BAŞLIĞI</dc:title>
  <dc:subject/>
  <dc:creator>Büşra Meniz</dc:creator>
  <cp:keywords/>
  <dc:description/>
  <cp:lastModifiedBy>Burak BAYRAM</cp:lastModifiedBy>
  <cp:revision>407</cp:revision>
  <dcterms:created xsi:type="dcterms:W3CDTF">2001-02-28T15:33:48Z</dcterms:created>
  <dcterms:modified xsi:type="dcterms:W3CDTF">2026-06-23T06:40:09Z</dcterms:modified>
  <cp:category/>
</cp:coreProperties>
</file>